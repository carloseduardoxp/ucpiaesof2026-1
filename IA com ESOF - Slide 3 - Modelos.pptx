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gif" ContentType="image/gif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79" r:id="rId1"/>
    <p:sldMasterId id="2147483680" r:id="rId2"/>
  </p:sldMasterIdLst>
  <p:notesMasterIdLst>
    <p:notesMasterId r:id="rId31"/>
  </p:notesMasterIdLst>
  <p:sldIdLst>
    <p:sldId id="256" r:id="rId3"/>
    <p:sldId id="258" r:id="rId4"/>
    <p:sldId id="259" r:id="rId5"/>
    <p:sldId id="268" r:id="rId6"/>
    <p:sldId id="269" r:id="rId7"/>
    <p:sldId id="260" r:id="rId8"/>
    <p:sldId id="270" r:id="rId9"/>
    <p:sldId id="271" r:id="rId10"/>
    <p:sldId id="261" r:id="rId11"/>
    <p:sldId id="262" r:id="rId12"/>
    <p:sldId id="285" r:id="rId13"/>
    <p:sldId id="265" r:id="rId14"/>
    <p:sldId id="273" r:id="rId15"/>
    <p:sldId id="272" r:id="rId16"/>
    <p:sldId id="274" r:id="rId17"/>
    <p:sldId id="279" r:id="rId18"/>
    <p:sldId id="278" r:id="rId19"/>
    <p:sldId id="281" r:id="rId20"/>
    <p:sldId id="280" r:id="rId21"/>
    <p:sldId id="264" r:id="rId22"/>
    <p:sldId id="277" r:id="rId23"/>
    <p:sldId id="283" r:id="rId24"/>
    <p:sldId id="282" r:id="rId25"/>
    <p:sldId id="284" r:id="rId26"/>
    <p:sldId id="276" r:id="rId27"/>
    <p:sldId id="275" r:id="rId28"/>
    <p:sldId id="286" r:id="rId29"/>
    <p:sldId id="287" r:id="rId30"/>
  </p:sldIdLst>
  <p:sldSz cx="9144000" cy="5143500" type="screen16x9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204" d="100"/>
          <a:sy n="204" d="100"/>
        </p:scale>
        <p:origin x="3096" y="150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openxmlformats.org/officeDocument/2006/relationships/slide" Target="slides/slide24.xml"/><Relationship Id="rId3" Type="http://schemas.openxmlformats.org/officeDocument/2006/relationships/slide" Target="slides/slide1.xml"/><Relationship Id="rId21" Type="http://schemas.openxmlformats.org/officeDocument/2006/relationships/slide" Target="slides/slide19.xml"/><Relationship Id="rId34" Type="http://schemas.openxmlformats.org/officeDocument/2006/relationships/theme" Target="theme/theme1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slide" Target="slides/slide23.xml"/><Relationship Id="rId33" Type="http://schemas.openxmlformats.org/officeDocument/2006/relationships/viewProps" Target="viewProps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slide" Target="slides/slide18.xml"/><Relationship Id="rId29" Type="http://schemas.openxmlformats.org/officeDocument/2006/relationships/slide" Target="slides/slide27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slide" Target="slides/slide22.xml"/><Relationship Id="rId32" Type="http://schemas.openxmlformats.org/officeDocument/2006/relationships/presProps" Target="presProps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slide" Target="slides/slide21.xml"/><Relationship Id="rId28" Type="http://schemas.openxmlformats.org/officeDocument/2006/relationships/slide" Target="slides/slide26.xml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31" Type="http://schemas.openxmlformats.org/officeDocument/2006/relationships/notesMaster" Target="notesMasters/notesMaster1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slide" Target="slides/slide20.xml"/><Relationship Id="rId27" Type="http://schemas.openxmlformats.org/officeDocument/2006/relationships/slide" Target="slides/slide25.xml"/><Relationship Id="rId30" Type="http://schemas.openxmlformats.org/officeDocument/2006/relationships/slide" Target="slides/slide28.xml"/><Relationship Id="rId35" Type="http://schemas.openxmlformats.org/officeDocument/2006/relationships/tableStyles" Target="tableStyles.xml"/><Relationship Id="rId8" Type="http://schemas.openxmlformats.org/officeDocument/2006/relationships/slide" Target="slides/slide6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1191229258"/>
      </p:ext>
    </p:extLst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g1e546029073_2_124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76" name="Google Shape;176;g1e546029073_2_124:notes"/>
          <p:cNvSpPr txBox="1">
            <a:spLocks noGrp="1"/>
          </p:cNvSpPr>
          <p:nvPr>
            <p:ph type="body" idx="1"/>
          </p:nvPr>
        </p:nvSpPr>
        <p:spPr>
          <a:xfrm>
            <a:off x="685959" y="4400041"/>
            <a:ext cx="5486094" cy="360058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50" tIns="44800" rIns="89650" bIns="448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400"/>
          </a:p>
        </p:txBody>
      </p:sp>
      <p:sp>
        <p:nvSpPr>
          <p:cNvPr id="177" name="Google Shape;177;g1e546029073_2_124:notes"/>
          <p:cNvSpPr txBox="1">
            <a:spLocks noGrp="1"/>
          </p:cNvSpPr>
          <p:nvPr>
            <p:ph type="sldNum" idx="12"/>
          </p:nvPr>
        </p:nvSpPr>
        <p:spPr>
          <a:xfrm>
            <a:off x="3884995" y="8685442"/>
            <a:ext cx="2971437" cy="45855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50" tIns="44800" rIns="89650" bIns="448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 sz="1400"/>
              <a:t>1</a:t>
            </a:fld>
            <a:endParaRPr sz="1400"/>
          </a:p>
        </p:txBody>
      </p:sp>
    </p:spTree>
    <p:extLst>
      <p:ext uri="{BB962C8B-B14F-4D97-AF65-F5344CB8AC3E}">
        <p14:creationId xmlns:p14="http://schemas.microsoft.com/office/powerpoint/2010/main" val="46849266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Google Shape;191;g1e546029073_2_139:notes"/>
          <p:cNvSpPr txBox="1">
            <a:spLocks noGrp="1"/>
          </p:cNvSpPr>
          <p:nvPr>
            <p:ph type="body" idx="1"/>
          </p:nvPr>
        </p:nvSpPr>
        <p:spPr>
          <a:xfrm>
            <a:off x="685959" y="4400041"/>
            <a:ext cx="5486094" cy="3600582"/>
          </a:xfrm>
          <a:prstGeom prst="rect">
            <a:avLst/>
          </a:prstGeom>
        </p:spPr>
        <p:txBody>
          <a:bodyPr spcFirstLastPara="1" wrap="square" lIns="89650" tIns="89650" rIns="89650" bIns="8965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2" name="Google Shape;192;g1e546029073_2_13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84715301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Google Shape;191;g1e546029073_2_139:notes"/>
          <p:cNvSpPr txBox="1">
            <a:spLocks noGrp="1"/>
          </p:cNvSpPr>
          <p:nvPr>
            <p:ph type="body" idx="1"/>
          </p:nvPr>
        </p:nvSpPr>
        <p:spPr>
          <a:xfrm>
            <a:off x="685959" y="4400041"/>
            <a:ext cx="5486094" cy="3600582"/>
          </a:xfrm>
          <a:prstGeom prst="rect">
            <a:avLst/>
          </a:prstGeom>
        </p:spPr>
        <p:txBody>
          <a:bodyPr spcFirstLastPara="1" wrap="square" lIns="89650" tIns="89650" rIns="89650" bIns="8965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2" name="Google Shape;192;g1e546029073_2_13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95094034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Google Shape;191;g1e546029073_2_139:notes"/>
          <p:cNvSpPr txBox="1">
            <a:spLocks noGrp="1"/>
          </p:cNvSpPr>
          <p:nvPr>
            <p:ph type="body" idx="1"/>
          </p:nvPr>
        </p:nvSpPr>
        <p:spPr>
          <a:xfrm>
            <a:off x="685959" y="4400041"/>
            <a:ext cx="5486094" cy="3600582"/>
          </a:xfrm>
          <a:prstGeom prst="rect">
            <a:avLst/>
          </a:prstGeom>
        </p:spPr>
        <p:txBody>
          <a:bodyPr spcFirstLastPara="1" wrap="square" lIns="89650" tIns="89650" rIns="89650" bIns="8965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2" name="Google Shape;192;g1e546029073_2_13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100561713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Google Shape;191;g1e546029073_2_139:notes"/>
          <p:cNvSpPr txBox="1">
            <a:spLocks noGrp="1"/>
          </p:cNvSpPr>
          <p:nvPr>
            <p:ph type="body" idx="1"/>
          </p:nvPr>
        </p:nvSpPr>
        <p:spPr>
          <a:xfrm>
            <a:off x="685959" y="4400041"/>
            <a:ext cx="5486094" cy="3600582"/>
          </a:xfrm>
          <a:prstGeom prst="rect">
            <a:avLst/>
          </a:prstGeom>
        </p:spPr>
        <p:txBody>
          <a:bodyPr spcFirstLastPara="1" wrap="square" lIns="89650" tIns="89650" rIns="89650" bIns="8965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2" name="Google Shape;192;g1e546029073_2_13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985159055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Google Shape;191;g1e546029073_2_139:notes"/>
          <p:cNvSpPr txBox="1">
            <a:spLocks noGrp="1"/>
          </p:cNvSpPr>
          <p:nvPr>
            <p:ph type="body" idx="1"/>
          </p:nvPr>
        </p:nvSpPr>
        <p:spPr>
          <a:xfrm>
            <a:off x="685959" y="4400041"/>
            <a:ext cx="5486094" cy="3600582"/>
          </a:xfrm>
          <a:prstGeom prst="rect">
            <a:avLst/>
          </a:prstGeom>
        </p:spPr>
        <p:txBody>
          <a:bodyPr spcFirstLastPara="1" wrap="square" lIns="89650" tIns="89650" rIns="89650" bIns="8965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2" name="Google Shape;192;g1e546029073_2_13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439911973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Google Shape;191;g1e546029073_2_139:notes"/>
          <p:cNvSpPr txBox="1">
            <a:spLocks noGrp="1"/>
          </p:cNvSpPr>
          <p:nvPr>
            <p:ph type="body" idx="1"/>
          </p:nvPr>
        </p:nvSpPr>
        <p:spPr>
          <a:xfrm>
            <a:off x="685959" y="4400041"/>
            <a:ext cx="5486094" cy="3600582"/>
          </a:xfrm>
          <a:prstGeom prst="rect">
            <a:avLst/>
          </a:prstGeom>
        </p:spPr>
        <p:txBody>
          <a:bodyPr spcFirstLastPara="1" wrap="square" lIns="89650" tIns="89650" rIns="89650" bIns="8965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2" name="Google Shape;192;g1e546029073_2_13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282040554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Google Shape;191;g1e546029073_2_139:notes"/>
          <p:cNvSpPr txBox="1">
            <a:spLocks noGrp="1"/>
          </p:cNvSpPr>
          <p:nvPr>
            <p:ph type="body" idx="1"/>
          </p:nvPr>
        </p:nvSpPr>
        <p:spPr>
          <a:xfrm>
            <a:off x="685959" y="4400041"/>
            <a:ext cx="5486094" cy="3600582"/>
          </a:xfrm>
          <a:prstGeom prst="rect">
            <a:avLst/>
          </a:prstGeom>
        </p:spPr>
        <p:txBody>
          <a:bodyPr spcFirstLastPara="1" wrap="square" lIns="89650" tIns="89650" rIns="89650" bIns="8965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2" name="Google Shape;192;g1e546029073_2_13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84064862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Google Shape;191;g1e546029073_2_139:notes"/>
          <p:cNvSpPr txBox="1">
            <a:spLocks noGrp="1"/>
          </p:cNvSpPr>
          <p:nvPr>
            <p:ph type="body" idx="1"/>
          </p:nvPr>
        </p:nvSpPr>
        <p:spPr>
          <a:xfrm>
            <a:off x="685959" y="4400041"/>
            <a:ext cx="5486094" cy="3600582"/>
          </a:xfrm>
          <a:prstGeom prst="rect">
            <a:avLst/>
          </a:prstGeom>
        </p:spPr>
        <p:txBody>
          <a:bodyPr spcFirstLastPara="1" wrap="square" lIns="89650" tIns="89650" rIns="89650" bIns="8965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2" name="Google Shape;192;g1e546029073_2_13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639189038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Google Shape;191;g1e546029073_2_139:notes"/>
          <p:cNvSpPr txBox="1">
            <a:spLocks noGrp="1"/>
          </p:cNvSpPr>
          <p:nvPr>
            <p:ph type="body" idx="1"/>
          </p:nvPr>
        </p:nvSpPr>
        <p:spPr>
          <a:xfrm>
            <a:off x="685959" y="4400041"/>
            <a:ext cx="5486094" cy="3600582"/>
          </a:xfrm>
          <a:prstGeom prst="rect">
            <a:avLst/>
          </a:prstGeom>
        </p:spPr>
        <p:txBody>
          <a:bodyPr spcFirstLastPara="1" wrap="square" lIns="89650" tIns="89650" rIns="89650" bIns="8965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2" name="Google Shape;192;g1e546029073_2_13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729441488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Google Shape;191;g1e546029073_2_139:notes"/>
          <p:cNvSpPr txBox="1">
            <a:spLocks noGrp="1"/>
          </p:cNvSpPr>
          <p:nvPr>
            <p:ph type="body" idx="1"/>
          </p:nvPr>
        </p:nvSpPr>
        <p:spPr>
          <a:xfrm>
            <a:off x="685959" y="4400041"/>
            <a:ext cx="5486094" cy="3600582"/>
          </a:xfrm>
          <a:prstGeom prst="rect">
            <a:avLst/>
          </a:prstGeom>
        </p:spPr>
        <p:txBody>
          <a:bodyPr spcFirstLastPara="1" wrap="square" lIns="89650" tIns="89650" rIns="89650" bIns="8965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2" name="Google Shape;192;g1e546029073_2_13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809332207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Google Shape;191;g1e546029073_2_139:notes"/>
          <p:cNvSpPr txBox="1">
            <a:spLocks noGrp="1"/>
          </p:cNvSpPr>
          <p:nvPr>
            <p:ph type="body" idx="1"/>
          </p:nvPr>
        </p:nvSpPr>
        <p:spPr>
          <a:xfrm>
            <a:off x="685959" y="4400041"/>
            <a:ext cx="5486094" cy="3600582"/>
          </a:xfrm>
          <a:prstGeom prst="rect">
            <a:avLst/>
          </a:prstGeom>
        </p:spPr>
        <p:txBody>
          <a:bodyPr spcFirstLastPara="1" wrap="square" lIns="89650" tIns="89650" rIns="89650" bIns="8965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2" name="Google Shape;192;g1e546029073_2_13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4087191920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Google Shape;191;g1e546029073_2_139:notes"/>
          <p:cNvSpPr txBox="1">
            <a:spLocks noGrp="1"/>
          </p:cNvSpPr>
          <p:nvPr>
            <p:ph type="body" idx="1"/>
          </p:nvPr>
        </p:nvSpPr>
        <p:spPr>
          <a:xfrm>
            <a:off x="685959" y="4400041"/>
            <a:ext cx="5486094" cy="3600582"/>
          </a:xfrm>
          <a:prstGeom prst="rect">
            <a:avLst/>
          </a:prstGeom>
        </p:spPr>
        <p:txBody>
          <a:bodyPr spcFirstLastPara="1" wrap="square" lIns="89650" tIns="89650" rIns="89650" bIns="8965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2" name="Google Shape;192;g1e546029073_2_13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4014382302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Google Shape;191;g1e546029073_2_139:notes"/>
          <p:cNvSpPr txBox="1">
            <a:spLocks noGrp="1"/>
          </p:cNvSpPr>
          <p:nvPr>
            <p:ph type="body" idx="1"/>
          </p:nvPr>
        </p:nvSpPr>
        <p:spPr>
          <a:xfrm>
            <a:off x="685959" y="4400041"/>
            <a:ext cx="5486094" cy="3600582"/>
          </a:xfrm>
          <a:prstGeom prst="rect">
            <a:avLst/>
          </a:prstGeom>
        </p:spPr>
        <p:txBody>
          <a:bodyPr spcFirstLastPara="1" wrap="square" lIns="89650" tIns="89650" rIns="89650" bIns="8965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2" name="Google Shape;192;g1e546029073_2_13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767958934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Google Shape;191;g1e546029073_2_139:notes"/>
          <p:cNvSpPr txBox="1">
            <a:spLocks noGrp="1"/>
          </p:cNvSpPr>
          <p:nvPr>
            <p:ph type="body" idx="1"/>
          </p:nvPr>
        </p:nvSpPr>
        <p:spPr>
          <a:xfrm>
            <a:off x="685959" y="4400041"/>
            <a:ext cx="5486094" cy="3600582"/>
          </a:xfrm>
          <a:prstGeom prst="rect">
            <a:avLst/>
          </a:prstGeom>
        </p:spPr>
        <p:txBody>
          <a:bodyPr spcFirstLastPara="1" wrap="square" lIns="89650" tIns="89650" rIns="89650" bIns="8965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2" name="Google Shape;192;g1e546029073_2_13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771532063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Google Shape;191;g1e546029073_2_139:notes"/>
          <p:cNvSpPr txBox="1">
            <a:spLocks noGrp="1"/>
          </p:cNvSpPr>
          <p:nvPr>
            <p:ph type="body" idx="1"/>
          </p:nvPr>
        </p:nvSpPr>
        <p:spPr>
          <a:xfrm>
            <a:off x="685959" y="4400041"/>
            <a:ext cx="5486094" cy="3600582"/>
          </a:xfrm>
          <a:prstGeom prst="rect">
            <a:avLst/>
          </a:prstGeom>
        </p:spPr>
        <p:txBody>
          <a:bodyPr spcFirstLastPara="1" wrap="square" lIns="89650" tIns="89650" rIns="89650" bIns="8965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2" name="Google Shape;192;g1e546029073_2_13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556254277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Google Shape;191;g1e546029073_2_139:notes"/>
          <p:cNvSpPr txBox="1">
            <a:spLocks noGrp="1"/>
          </p:cNvSpPr>
          <p:nvPr>
            <p:ph type="body" idx="1"/>
          </p:nvPr>
        </p:nvSpPr>
        <p:spPr>
          <a:xfrm>
            <a:off x="685959" y="4400041"/>
            <a:ext cx="5486094" cy="3600582"/>
          </a:xfrm>
          <a:prstGeom prst="rect">
            <a:avLst/>
          </a:prstGeom>
        </p:spPr>
        <p:txBody>
          <a:bodyPr spcFirstLastPara="1" wrap="square" lIns="89650" tIns="89650" rIns="89650" bIns="8965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2" name="Google Shape;192;g1e546029073_2_13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232827114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Google Shape;191;g1e546029073_2_139:notes"/>
          <p:cNvSpPr txBox="1">
            <a:spLocks noGrp="1"/>
          </p:cNvSpPr>
          <p:nvPr>
            <p:ph type="body" idx="1"/>
          </p:nvPr>
        </p:nvSpPr>
        <p:spPr>
          <a:xfrm>
            <a:off x="685959" y="4400041"/>
            <a:ext cx="5486094" cy="3600582"/>
          </a:xfrm>
          <a:prstGeom prst="rect">
            <a:avLst/>
          </a:prstGeom>
        </p:spPr>
        <p:txBody>
          <a:bodyPr spcFirstLastPara="1" wrap="square" lIns="89650" tIns="89650" rIns="89650" bIns="8965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2" name="Google Shape;192;g1e546029073_2_13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823921719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Google Shape;191;g1e546029073_2_139:notes"/>
          <p:cNvSpPr txBox="1">
            <a:spLocks noGrp="1"/>
          </p:cNvSpPr>
          <p:nvPr>
            <p:ph type="body" idx="1"/>
          </p:nvPr>
        </p:nvSpPr>
        <p:spPr>
          <a:xfrm>
            <a:off x="685959" y="4400041"/>
            <a:ext cx="5486094" cy="3600582"/>
          </a:xfrm>
          <a:prstGeom prst="rect">
            <a:avLst/>
          </a:prstGeom>
        </p:spPr>
        <p:txBody>
          <a:bodyPr spcFirstLastPara="1" wrap="square" lIns="89650" tIns="89650" rIns="89650" bIns="8965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2" name="Google Shape;192;g1e546029073_2_13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87981558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Google Shape;191;g1e546029073_2_139:notes"/>
          <p:cNvSpPr txBox="1">
            <a:spLocks noGrp="1"/>
          </p:cNvSpPr>
          <p:nvPr>
            <p:ph type="body" idx="1"/>
          </p:nvPr>
        </p:nvSpPr>
        <p:spPr>
          <a:xfrm>
            <a:off x="685959" y="4400041"/>
            <a:ext cx="5486094" cy="3600582"/>
          </a:xfrm>
          <a:prstGeom prst="rect">
            <a:avLst/>
          </a:prstGeom>
        </p:spPr>
        <p:txBody>
          <a:bodyPr spcFirstLastPara="1" wrap="square" lIns="89650" tIns="89650" rIns="89650" bIns="8965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2" name="Google Shape;192;g1e546029073_2_13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10394798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Google Shape;191;g1e546029073_2_139:notes"/>
          <p:cNvSpPr txBox="1">
            <a:spLocks noGrp="1"/>
          </p:cNvSpPr>
          <p:nvPr>
            <p:ph type="body" idx="1"/>
          </p:nvPr>
        </p:nvSpPr>
        <p:spPr>
          <a:xfrm>
            <a:off x="685959" y="4400041"/>
            <a:ext cx="5486094" cy="3600582"/>
          </a:xfrm>
          <a:prstGeom prst="rect">
            <a:avLst/>
          </a:prstGeom>
        </p:spPr>
        <p:txBody>
          <a:bodyPr spcFirstLastPara="1" wrap="square" lIns="89650" tIns="89650" rIns="89650" bIns="8965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2" name="Google Shape;192;g1e546029073_2_13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58512612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Google Shape;191;g1e546029073_2_139:notes"/>
          <p:cNvSpPr txBox="1">
            <a:spLocks noGrp="1"/>
          </p:cNvSpPr>
          <p:nvPr>
            <p:ph type="body" idx="1"/>
          </p:nvPr>
        </p:nvSpPr>
        <p:spPr>
          <a:xfrm>
            <a:off x="685959" y="4400041"/>
            <a:ext cx="5486094" cy="3600582"/>
          </a:xfrm>
          <a:prstGeom prst="rect">
            <a:avLst/>
          </a:prstGeom>
        </p:spPr>
        <p:txBody>
          <a:bodyPr spcFirstLastPara="1" wrap="square" lIns="89650" tIns="89650" rIns="89650" bIns="8965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2" name="Google Shape;192;g1e546029073_2_13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361647640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Google Shape;191;g1e546029073_2_139:notes"/>
          <p:cNvSpPr txBox="1">
            <a:spLocks noGrp="1"/>
          </p:cNvSpPr>
          <p:nvPr>
            <p:ph type="body" idx="1"/>
          </p:nvPr>
        </p:nvSpPr>
        <p:spPr>
          <a:xfrm>
            <a:off x="685959" y="4400041"/>
            <a:ext cx="5486094" cy="3600582"/>
          </a:xfrm>
          <a:prstGeom prst="rect">
            <a:avLst/>
          </a:prstGeom>
        </p:spPr>
        <p:txBody>
          <a:bodyPr spcFirstLastPara="1" wrap="square" lIns="89650" tIns="89650" rIns="89650" bIns="8965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2" name="Google Shape;192;g1e546029073_2_13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982330856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Google Shape;191;g1e546029073_2_139:notes"/>
          <p:cNvSpPr txBox="1">
            <a:spLocks noGrp="1"/>
          </p:cNvSpPr>
          <p:nvPr>
            <p:ph type="body" idx="1"/>
          </p:nvPr>
        </p:nvSpPr>
        <p:spPr>
          <a:xfrm>
            <a:off x="685959" y="4400041"/>
            <a:ext cx="5486094" cy="3600582"/>
          </a:xfrm>
          <a:prstGeom prst="rect">
            <a:avLst/>
          </a:prstGeom>
        </p:spPr>
        <p:txBody>
          <a:bodyPr spcFirstLastPara="1" wrap="square" lIns="89650" tIns="89650" rIns="89650" bIns="8965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2" name="Google Shape;192;g1e546029073_2_13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816400207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Google Shape;191;g1e546029073_2_139:notes"/>
          <p:cNvSpPr txBox="1">
            <a:spLocks noGrp="1"/>
          </p:cNvSpPr>
          <p:nvPr>
            <p:ph type="body" idx="1"/>
          </p:nvPr>
        </p:nvSpPr>
        <p:spPr>
          <a:xfrm>
            <a:off x="685959" y="4400041"/>
            <a:ext cx="5486094" cy="3600582"/>
          </a:xfrm>
          <a:prstGeom prst="rect">
            <a:avLst/>
          </a:prstGeom>
        </p:spPr>
        <p:txBody>
          <a:bodyPr spcFirstLastPara="1" wrap="square" lIns="89650" tIns="89650" rIns="89650" bIns="8965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2" name="Google Shape;192;g1e546029073_2_13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84231728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Google Shape;191;g1e546029073_2_139:notes"/>
          <p:cNvSpPr txBox="1">
            <a:spLocks noGrp="1"/>
          </p:cNvSpPr>
          <p:nvPr>
            <p:ph type="body" idx="1"/>
          </p:nvPr>
        </p:nvSpPr>
        <p:spPr>
          <a:xfrm>
            <a:off x="685959" y="4400041"/>
            <a:ext cx="5486094" cy="3600582"/>
          </a:xfrm>
          <a:prstGeom prst="rect">
            <a:avLst/>
          </a:prstGeom>
        </p:spPr>
        <p:txBody>
          <a:bodyPr spcFirstLastPara="1" wrap="square" lIns="89650" tIns="89650" rIns="89650" bIns="8965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2" name="Google Shape;192;g1e546029073_2_13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684576700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Google Shape;191;g1e546029073_2_139:notes"/>
          <p:cNvSpPr txBox="1">
            <a:spLocks noGrp="1"/>
          </p:cNvSpPr>
          <p:nvPr>
            <p:ph type="body" idx="1"/>
          </p:nvPr>
        </p:nvSpPr>
        <p:spPr>
          <a:xfrm>
            <a:off x="685959" y="4400041"/>
            <a:ext cx="5486094" cy="3600582"/>
          </a:xfrm>
          <a:prstGeom prst="rect">
            <a:avLst/>
          </a:prstGeom>
        </p:spPr>
        <p:txBody>
          <a:bodyPr spcFirstLastPara="1" wrap="square" lIns="89650" tIns="89650" rIns="89650" bIns="8965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2" name="Google Shape;192;g1e546029073_2_13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137655958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Google Shape;191;g1e546029073_2_139:notes"/>
          <p:cNvSpPr txBox="1">
            <a:spLocks noGrp="1"/>
          </p:cNvSpPr>
          <p:nvPr>
            <p:ph type="body" idx="1"/>
          </p:nvPr>
        </p:nvSpPr>
        <p:spPr>
          <a:xfrm>
            <a:off x="685959" y="4400041"/>
            <a:ext cx="5486094" cy="3600582"/>
          </a:xfrm>
          <a:prstGeom prst="rect">
            <a:avLst/>
          </a:prstGeom>
        </p:spPr>
        <p:txBody>
          <a:bodyPr spcFirstLastPara="1" wrap="square" lIns="89650" tIns="89650" rIns="89650" bIns="8965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2" name="Google Shape;192;g1e546029073_2_13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85001292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>
            <a:spLocks noGrp="1"/>
          </p:cNvSpPr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11" name="Google Shape;11;p2"/>
          <p:cNvSpPr txBox="1">
            <a:spLocks noGrp="1"/>
          </p:cNvSpPr>
          <p:nvPr>
            <p:ph type="subTitle" idx="1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12" name="Google Shape;12;p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>
            <a:spLocks noGrp="1"/>
          </p:cNvSpPr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15" name="Google Shape;15;p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8" name="Google Shape;18;p4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19" name="Google Shape;19;p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5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3" name="Google Shape;23;p5"/>
          <p:cNvSpPr txBox="1">
            <a:spLocks noGrp="1"/>
          </p:cNvSpPr>
          <p:nvPr>
            <p:ph type="body" idx="2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4" name="Google Shape;24;p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>
            <a:spLocks noGrp="1"/>
          </p:cNvSpPr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30" name="Google Shape;30;p7"/>
          <p:cNvSpPr txBox="1">
            <a:spLocks noGrp="1"/>
          </p:cNvSpPr>
          <p:nvPr>
            <p:ph type="body" idx="1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1" name="Google Shape;31;p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>
            <a:spLocks noGrp="1"/>
          </p:cNvSpPr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34" name="Google Shape;34;p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" name="Google Shape;37;p9"/>
          <p:cNvSpPr txBox="1">
            <a:spLocks noGrp="1"/>
          </p:cNvSpPr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38" name="Google Shape;38;p9"/>
          <p:cNvSpPr txBox="1">
            <a:spLocks noGrp="1"/>
          </p:cNvSpPr>
          <p:nvPr>
            <p:ph type="subTitle" idx="1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39" name="Google Shape;39;p9"/>
          <p:cNvSpPr txBox="1">
            <a:spLocks noGrp="1"/>
          </p:cNvSpPr>
          <p:nvPr>
            <p:ph type="body" idx="2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0" name="Google Shape;40;p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>
            <a:spLocks noGrp="1"/>
          </p:cNvSpPr>
          <p:nvPr>
            <p:ph type="body" idx="1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>
            <a:endParaRPr/>
          </a:p>
        </p:txBody>
      </p:sp>
      <p:sp>
        <p:nvSpPr>
          <p:cNvPr id="43" name="Google Shape;43;p1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>
            <a:spLocks noGrp="1"/>
          </p:cNvSpPr>
          <p:nvPr>
            <p:ph type="title" hasCustomPrompt="1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>
            <a:spLocks noGrp="1"/>
          </p:cNvSpPr>
          <p:nvPr>
            <p:ph type="body" idx="1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7" name="Google Shape;47;p1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lide de título" type="title">
  <p:cSld name="TITLE">
    <p:spTree>
      <p:nvGrpSpPr>
        <p:cNvPr id="1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14"/>
          <p:cNvSpPr txBox="1">
            <a:spLocks noGrp="1"/>
          </p:cNvSpPr>
          <p:nvPr>
            <p:ph type="ctrTitle"/>
          </p:nvPr>
        </p:nvSpPr>
        <p:spPr>
          <a:xfrm>
            <a:off x="1143000" y="841772"/>
            <a:ext cx="6858000" cy="179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Calibri"/>
              <a:buNone/>
              <a:defRPr sz="45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14"/>
          <p:cNvSpPr txBox="1">
            <a:spLocks noGrp="1"/>
          </p:cNvSpPr>
          <p:nvPr>
            <p:ph type="subTitle" idx="1"/>
          </p:nvPr>
        </p:nvSpPr>
        <p:spPr>
          <a:xfrm>
            <a:off x="1143000" y="2701528"/>
            <a:ext cx="6858000" cy="12418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lvl="0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1pPr>
            <a:lvl2pPr lvl="1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/>
            </a:lvl2pPr>
            <a:lvl3pPr lvl="2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3pPr>
            <a:lvl4pPr lvl="3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4pPr>
            <a:lvl5pPr lvl="4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5pPr>
            <a:lvl6pPr lvl="5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6pPr>
            <a:lvl7pPr lvl="6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7pPr>
            <a:lvl8pPr lvl="7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8pPr>
            <a:lvl9pPr lvl="8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9pPr>
          </a:lstStyle>
          <a:p>
            <a:endParaRPr/>
          </a:p>
        </p:txBody>
      </p:sp>
      <p:sp>
        <p:nvSpPr>
          <p:cNvPr id="61" name="Google Shape;61;p14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62" name="Google Shape;62;p14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14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  <p:pic>
        <p:nvPicPr>
          <p:cNvPr id="64" name="Google Shape;64;p14" descr="https://scontent-gru.xx.fbcdn.net/hphotos-xfp1/v/t1.0-9/10550955_973364799357819_6866990541106677591_n.jpg?oh=75a66e5426574f3d9cd5df61457c91b4&amp;oe=557DE048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73819" y="34528"/>
            <a:ext cx="1126331" cy="1126331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65" name="Google Shape;65;p14"/>
          <p:cNvCxnSpPr/>
          <p:nvPr/>
        </p:nvCxnSpPr>
        <p:spPr>
          <a:xfrm rot="10800000" flipH="1">
            <a:off x="142875" y="1257300"/>
            <a:ext cx="8943975" cy="17860"/>
          </a:xfrm>
          <a:prstGeom prst="straightConnector1">
            <a:avLst/>
          </a:prstGeom>
          <a:noFill/>
          <a:ln w="19050" cap="flat" cmpd="sng">
            <a:solidFill>
              <a:srgbClr val="006600"/>
            </a:solidFill>
            <a:prstDash val="solid"/>
            <a:miter lim="800000"/>
            <a:headEnd type="none" w="sm" len="sm"/>
            <a:tailEnd type="none" w="sm" len="sm"/>
          </a:ln>
        </p:spPr>
      </p:cxn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ítulo e conteúdo" type="obj">
  <p:cSld name="OBJECT">
    <p:spTree>
      <p:nvGrpSpPr>
        <p:cNvPr id="1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15"/>
          <p:cNvSpPr txBox="1">
            <a:spLocks noGrp="1"/>
          </p:cNvSpPr>
          <p:nvPr>
            <p:ph type="title"/>
          </p:nvPr>
        </p:nvSpPr>
        <p:spPr>
          <a:xfrm>
            <a:off x="1098550" y="273844"/>
            <a:ext cx="7416799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68" name="Google Shape;68;p15"/>
          <p:cNvSpPr txBox="1">
            <a:spLocks noGrp="1"/>
          </p:cNvSpPr>
          <p:nvPr>
            <p:ph type="body" idx="1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69" name="Google Shape;69;p15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15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71" name="Google Shape;71;p15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beçalho da Seção" type="secHead">
  <p:cSld name="SECTION_HEADER">
    <p:spTree>
      <p:nvGrpSpPr>
        <p:cNvPr id="1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16"/>
          <p:cNvSpPr txBox="1">
            <a:spLocks noGrp="1"/>
          </p:cNvSpPr>
          <p:nvPr>
            <p:ph type="title"/>
          </p:nvPr>
        </p:nvSpPr>
        <p:spPr>
          <a:xfrm>
            <a:off x="623888" y="1282304"/>
            <a:ext cx="7886700" cy="213955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Calibri"/>
              <a:buNone/>
              <a:defRPr sz="45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74" name="Google Shape;74;p16"/>
          <p:cNvSpPr txBox="1">
            <a:spLocks noGrp="1"/>
          </p:cNvSpPr>
          <p:nvPr>
            <p:ph type="body" idx="1"/>
          </p:nvPr>
        </p:nvSpPr>
        <p:spPr>
          <a:xfrm>
            <a:off x="623888" y="3442097"/>
            <a:ext cx="7886700" cy="11251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 sz="1500">
                <a:solidFill>
                  <a:srgbClr val="888888"/>
                </a:solidFill>
              </a:defRPr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75" name="Google Shape;75;p16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16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77" name="Google Shape;77;p16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uas Partes de Conteúdo" type="twoObj">
  <p:cSld name="TWO_OBJECTS">
    <p:spTree>
      <p:nvGrpSpPr>
        <p:cNvPr id="1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17"/>
          <p:cNvSpPr txBox="1">
            <a:spLocks noGrp="1"/>
          </p:cNvSpPr>
          <p:nvPr>
            <p:ph type="title"/>
          </p:nvPr>
        </p:nvSpPr>
        <p:spPr>
          <a:xfrm>
            <a:off x="1098550" y="273844"/>
            <a:ext cx="7416799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80" name="Google Shape;80;p17"/>
          <p:cNvSpPr txBox="1">
            <a:spLocks noGrp="1"/>
          </p:cNvSpPr>
          <p:nvPr>
            <p:ph type="body" idx="1"/>
          </p:nvPr>
        </p:nvSpPr>
        <p:spPr>
          <a:xfrm>
            <a:off x="628650" y="1369219"/>
            <a:ext cx="3886200" cy="326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81" name="Google Shape;81;p17"/>
          <p:cNvSpPr txBox="1">
            <a:spLocks noGrp="1"/>
          </p:cNvSpPr>
          <p:nvPr>
            <p:ph type="body" idx="2"/>
          </p:nvPr>
        </p:nvSpPr>
        <p:spPr>
          <a:xfrm>
            <a:off x="4629150" y="1369219"/>
            <a:ext cx="3886200" cy="326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82" name="Google Shape;82;p17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83" name="Google Shape;83;p17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84" name="Google Shape;84;p17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ação" type="twoTxTwoObj">
  <p:cSld name="TWO_OBJECTS_WITH_TEXT">
    <p:spTree>
      <p:nvGrpSpPr>
        <p:cNvPr id="1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18"/>
          <p:cNvSpPr txBox="1">
            <a:spLocks noGrp="1"/>
          </p:cNvSpPr>
          <p:nvPr>
            <p:ph type="title"/>
          </p:nvPr>
        </p:nvSpPr>
        <p:spPr>
          <a:xfrm>
            <a:off x="914400" y="273844"/>
            <a:ext cx="7602141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87" name="Google Shape;87;p18"/>
          <p:cNvSpPr txBox="1">
            <a:spLocks noGrp="1"/>
          </p:cNvSpPr>
          <p:nvPr>
            <p:ph type="body" idx="1"/>
          </p:nvPr>
        </p:nvSpPr>
        <p:spPr>
          <a:xfrm>
            <a:off x="629841" y="1260872"/>
            <a:ext cx="3868340" cy="6179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 b="1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1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9pPr>
          </a:lstStyle>
          <a:p>
            <a:endParaRPr/>
          </a:p>
        </p:txBody>
      </p:sp>
      <p:sp>
        <p:nvSpPr>
          <p:cNvPr id="88" name="Google Shape;88;p18"/>
          <p:cNvSpPr txBox="1">
            <a:spLocks noGrp="1"/>
          </p:cNvSpPr>
          <p:nvPr>
            <p:ph type="body" idx="2"/>
          </p:nvPr>
        </p:nvSpPr>
        <p:spPr>
          <a:xfrm>
            <a:off x="629841" y="1878806"/>
            <a:ext cx="3868340" cy="27634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89" name="Google Shape;89;p18"/>
          <p:cNvSpPr txBox="1">
            <a:spLocks noGrp="1"/>
          </p:cNvSpPr>
          <p:nvPr>
            <p:ph type="body" idx="3"/>
          </p:nvPr>
        </p:nvSpPr>
        <p:spPr>
          <a:xfrm>
            <a:off x="4629150" y="1260872"/>
            <a:ext cx="3887391" cy="6179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 b="1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1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9pPr>
          </a:lstStyle>
          <a:p>
            <a:endParaRPr/>
          </a:p>
        </p:txBody>
      </p:sp>
      <p:sp>
        <p:nvSpPr>
          <p:cNvPr id="90" name="Google Shape;90;p18"/>
          <p:cNvSpPr txBox="1">
            <a:spLocks noGrp="1"/>
          </p:cNvSpPr>
          <p:nvPr>
            <p:ph type="body" idx="4"/>
          </p:nvPr>
        </p:nvSpPr>
        <p:spPr>
          <a:xfrm>
            <a:off x="4629150" y="1878806"/>
            <a:ext cx="3887391" cy="27634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91" name="Google Shape;91;p18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92" name="Google Shape;92;p18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93" name="Google Shape;93;p18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omente título" type="titleOnly">
  <p:cSld name="TITLE_ONLY">
    <p:spTree>
      <p:nvGrpSpPr>
        <p:cNvPr id="1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19"/>
          <p:cNvSpPr txBox="1">
            <a:spLocks noGrp="1"/>
          </p:cNvSpPr>
          <p:nvPr>
            <p:ph type="title"/>
          </p:nvPr>
        </p:nvSpPr>
        <p:spPr>
          <a:xfrm>
            <a:off x="1098550" y="273844"/>
            <a:ext cx="7416799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96" name="Google Shape;96;p19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97" name="Google Shape;97;p19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98" name="Google Shape;98;p19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Em branco" type="blank">
  <p:cSld name="BLANK">
    <p:spTree>
      <p:nvGrpSpPr>
        <p:cNvPr id="1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20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01" name="Google Shape;101;p20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02" name="Google Shape;102;p20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údo com Legenda" type="objTx">
  <p:cSld name="OBJECT_WITH_CAPTION_TEXT">
    <p:spTree>
      <p:nvGrpSpPr>
        <p:cNvPr id="1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21"/>
          <p:cNvSpPr txBox="1">
            <a:spLocks noGrp="1"/>
          </p:cNvSpPr>
          <p:nvPr>
            <p:ph type="title"/>
          </p:nvPr>
        </p:nvSpPr>
        <p:spPr>
          <a:xfrm>
            <a:off x="629841" y="342900"/>
            <a:ext cx="2949178" cy="12001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05" name="Google Shape;105;p21"/>
          <p:cNvSpPr txBox="1">
            <a:spLocks noGrp="1"/>
          </p:cNvSpPr>
          <p:nvPr>
            <p:ph type="body" idx="1"/>
          </p:nvPr>
        </p:nvSpPr>
        <p:spPr>
          <a:xfrm>
            <a:off x="3887391" y="740569"/>
            <a:ext cx="4629150" cy="365521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810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619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100"/>
              <a:buChar char="•"/>
              <a:defRPr sz="2100"/>
            </a:lvl2pPr>
            <a:lvl3pPr marL="1371600" lvl="2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4pPr>
            <a:lvl5pPr marL="2286000" lvl="4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5pPr>
            <a:lvl6pPr marL="2743200" lvl="5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6pPr>
            <a:lvl7pPr marL="3200400" lvl="6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7pPr>
            <a:lvl8pPr marL="3657600" lvl="7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8pPr>
            <a:lvl9pPr marL="4114800" lvl="8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9pPr>
          </a:lstStyle>
          <a:p>
            <a:endParaRPr/>
          </a:p>
        </p:txBody>
      </p:sp>
      <p:sp>
        <p:nvSpPr>
          <p:cNvPr id="106" name="Google Shape;106;p21"/>
          <p:cNvSpPr txBox="1">
            <a:spLocks noGrp="1"/>
          </p:cNvSpPr>
          <p:nvPr>
            <p:ph type="body" idx="2"/>
          </p:nvPr>
        </p:nvSpPr>
        <p:spPr>
          <a:xfrm>
            <a:off x="629841" y="1543050"/>
            <a:ext cx="2949178" cy="28586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9pPr>
          </a:lstStyle>
          <a:p>
            <a:endParaRPr/>
          </a:p>
        </p:txBody>
      </p:sp>
      <p:sp>
        <p:nvSpPr>
          <p:cNvPr id="107" name="Google Shape;107;p21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08" name="Google Shape;108;p21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09" name="Google Shape;109;p21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Imagem com Legenda" type="picTx">
  <p:cSld name="PICTURE_WITH_CAPTION_TEXT">
    <p:spTree>
      <p:nvGrpSpPr>
        <p:cNvPr id="1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22"/>
          <p:cNvSpPr txBox="1">
            <a:spLocks noGrp="1"/>
          </p:cNvSpPr>
          <p:nvPr>
            <p:ph type="title"/>
          </p:nvPr>
        </p:nvSpPr>
        <p:spPr>
          <a:xfrm>
            <a:off x="629841" y="342900"/>
            <a:ext cx="2949178" cy="12001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12" name="Google Shape;112;p22"/>
          <p:cNvSpPr>
            <a:spLocks noGrp="1"/>
          </p:cNvSpPr>
          <p:nvPr>
            <p:ph type="pic" idx="2"/>
          </p:nvPr>
        </p:nvSpPr>
        <p:spPr>
          <a:xfrm>
            <a:off x="3887391" y="740569"/>
            <a:ext cx="4629150" cy="3655219"/>
          </a:xfrm>
          <a:prstGeom prst="rect">
            <a:avLst/>
          </a:prstGeom>
          <a:noFill/>
          <a:ln>
            <a:noFill/>
          </a:ln>
        </p:spPr>
      </p:sp>
      <p:sp>
        <p:nvSpPr>
          <p:cNvPr id="113" name="Google Shape;113;p22"/>
          <p:cNvSpPr txBox="1">
            <a:spLocks noGrp="1"/>
          </p:cNvSpPr>
          <p:nvPr>
            <p:ph type="body" idx="1"/>
          </p:nvPr>
        </p:nvSpPr>
        <p:spPr>
          <a:xfrm>
            <a:off x="629841" y="1543050"/>
            <a:ext cx="2949178" cy="28586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9pPr>
          </a:lstStyle>
          <a:p>
            <a:endParaRPr/>
          </a:p>
        </p:txBody>
      </p:sp>
      <p:sp>
        <p:nvSpPr>
          <p:cNvPr id="114" name="Google Shape;114;p22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15" name="Google Shape;115;p22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16" name="Google Shape;116;p22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ítulo e texto vertical" type="vertTx">
  <p:cSld name="VERTICAL_TEXT">
    <p:spTree>
      <p:nvGrpSpPr>
        <p:cNvPr id="1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p23"/>
          <p:cNvSpPr txBox="1">
            <a:spLocks noGrp="1"/>
          </p:cNvSpPr>
          <p:nvPr>
            <p:ph type="title"/>
          </p:nvPr>
        </p:nvSpPr>
        <p:spPr>
          <a:xfrm>
            <a:off x="1098550" y="273844"/>
            <a:ext cx="7416799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19" name="Google Shape;119;p23"/>
          <p:cNvSpPr txBox="1">
            <a:spLocks noGrp="1"/>
          </p:cNvSpPr>
          <p:nvPr>
            <p:ph type="body" idx="1"/>
          </p:nvPr>
        </p:nvSpPr>
        <p:spPr>
          <a:xfrm rot="5400000">
            <a:off x="2940248" y="-942379"/>
            <a:ext cx="3263504" cy="788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120" name="Google Shape;120;p23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21" name="Google Shape;121;p23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22" name="Google Shape;122;p23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ítulo e texto verticais" type="vertTitleAndTx">
  <p:cSld name="VERTICAL_TITLE_AND_VERTICAL_TEXT">
    <p:spTree>
      <p:nvGrpSpPr>
        <p:cNvPr id="1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p24"/>
          <p:cNvSpPr txBox="1">
            <a:spLocks noGrp="1"/>
          </p:cNvSpPr>
          <p:nvPr>
            <p:ph type="title"/>
          </p:nvPr>
        </p:nvSpPr>
        <p:spPr>
          <a:xfrm rot="5400000">
            <a:off x="5350073" y="1467445"/>
            <a:ext cx="4358879" cy="19716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25" name="Google Shape;125;p24"/>
          <p:cNvSpPr txBox="1">
            <a:spLocks noGrp="1"/>
          </p:cNvSpPr>
          <p:nvPr>
            <p:ph type="body" idx="1"/>
          </p:nvPr>
        </p:nvSpPr>
        <p:spPr>
          <a:xfrm rot="5400000">
            <a:off x="1349573" y="-447080"/>
            <a:ext cx="4358879" cy="58007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126" name="Google Shape;126;p24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27" name="Google Shape;127;p24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28" name="Google Shape;128;p24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Layout Personalizado">
  <p:cSld name="Layout Personalizado">
    <p:spTree>
      <p:nvGrpSpPr>
        <p:cNvPr id="1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p25"/>
          <p:cNvSpPr txBox="1">
            <a:spLocks noGrp="1"/>
          </p:cNvSpPr>
          <p:nvPr>
            <p:ph type="title"/>
          </p:nvPr>
        </p:nvSpPr>
        <p:spPr>
          <a:xfrm>
            <a:off x="1098550" y="273844"/>
            <a:ext cx="7416799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31" name="Google Shape;131;p25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32" name="Google Shape;132;p25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33" name="Google Shape;133;p25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© carloseduardodantas@iftm.edu.br</a:t>
            </a: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Layout Personalizado">
  <p:cSld name="1_Layout Personalizado">
    <p:spTree>
      <p:nvGrpSpPr>
        <p:cNvPr id="1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p26"/>
          <p:cNvSpPr txBox="1">
            <a:spLocks noGrp="1"/>
          </p:cNvSpPr>
          <p:nvPr>
            <p:ph type="title"/>
          </p:nvPr>
        </p:nvSpPr>
        <p:spPr>
          <a:xfrm>
            <a:off x="1098550" y="273844"/>
            <a:ext cx="7416799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36" name="Google Shape;136;p26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37" name="Google Shape;137;p26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38" name="Google Shape;138;p26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© carloseduardodantas@iftm.edu.br</a:t>
            </a: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2_Layout Personalizado">
  <p:cSld name="2_Layout Personalizado">
    <p:spTree>
      <p:nvGrpSpPr>
        <p:cNvPr id="1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p27"/>
          <p:cNvSpPr txBox="1">
            <a:spLocks noGrp="1"/>
          </p:cNvSpPr>
          <p:nvPr>
            <p:ph type="title"/>
          </p:nvPr>
        </p:nvSpPr>
        <p:spPr>
          <a:xfrm>
            <a:off x="1098550" y="273844"/>
            <a:ext cx="7416799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41" name="Google Shape;141;p27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42" name="Google Shape;142;p27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43" name="Google Shape;143;p27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© carloseduardodantas@iftm.edu.br</a:t>
            </a: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3_Layout Personalizado">
  <p:cSld name="3_Layout Personalizado">
    <p:spTree>
      <p:nvGrpSpPr>
        <p:cNvPr id="1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p28"/>
          <p:cNvSpPr txBox="1">
            <a:spLocks noGrp="1"/>
          </p:cNvSpPr>
          <p:nvPr>
            <p:ph type="title"/>
          </p:nvPr>
        </p:nvSpPr>
        <p:spPr>
          <a:xfrm>
            <a:off x="1098550" y="273844"/>
            <a:ext cx="7416799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46" name="Google Shape;146;p28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47" name="Google Shape;147;p28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48" name="Google Shape;148;p28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© carloseduardodantas@iftm.edu.br</a:t>
            </a: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4_Layout Personalizado">
  <p:cSld name="4_Layout Personalizado">
    <p:spTree>
      <p:nvGrpSpPr>
        <p:cNvPr id="1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p29"/>
          <p:cNvSpPr txBox="1">
            <a:spLocks noGrp="1"/>
          </p:cNvSpPr>
          <p:nvPr>
            <p:ph type="title"/>
          </p:nvPr>
        </p:nvSpPr>
        <p:spPr>
          <a:xfrm>
            <a:off x="1098550" y="273844"/>
            <a:ext cx="7416799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51" name="Google Shape;151;p29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52" name="Google Shape;152;p29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53" name="Google Shape;153;p29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© carloseduardodantas@iftm.edu.br</a:t>
            </a: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5_Layout Personalizado">
  <p:cSld name="5_Layout Personalizado">
    <p:spTree>
      <p:nvGrpSpPr>
        <p:cNvPr id="1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p30"/>
          <p:cNvSpPr txBox="1">
            <a:spLocks noGrp="1"/>
          </p:cNvSpPr>
          <p:nvPr>
            <p:ph type="title"/>
          </p:nvPr>
        </p:nvSpPr>
        <p:spPr>
          <a:xfrm>
            <a:off x="1098550" y="273844"/>
            <a:ext cx="7416799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56" name="Google Shape;156;p30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57" name="Google Shape;157;p30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58" name="Google Shape;158;p30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© carloseduardodantas@iftm.edu.br</a:t>
            </a: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6_Layout Personalizado">
  <p:cSld name="6_Layout Personalizado">
    <p:spTree>
      <p:nvGrpSpPr>
        <p:cNvPr id="1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p31"/>
          <p:cNvSpPr txBox="1">
            <a:spLocks noGrp="1"/>
          </p:cNvSpPr>
          <p:nvPr>
            <p:ph type="title"/>
          </p:nvPr>
        </p:nvSpPr>
        <p:spPr>
          <a:xfrm>
            <a:off x="1098550" y="273844"/>
            <a:ext cx="7416799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61" name="Google Shape;161;p31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62" name="Google Shape;162;p31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63" name="Google Shape;163;p31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7_Layout Personalizado">
  <p:cSld name="7_Layout Personalizado">
    <p:spTree>
      <p:nvGrpSpPr>
        <p:cNvPr id="1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p32"/>
          <p:cNvSpPr txBox="1">
            <a:spLocks noGrp="1"/>
          </p:cNvSpPr>
          <p:nvPr>
            <p:ph type="title"/>
          </p:nvPr>
        </p:nvSpPr>
        <p:spPr>
          <a:xfrm>
            <a:off x="1098550" y="273844"/>
            <a:ext cx="7416799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66" name="Google Shape;166;p32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67" name="Google Shape;167;p32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68" name="Google Shape;168;p32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8_Layout Personalizado">
  <p:cSld name="8_Layout Personalizado">
    <p:spTree>
      <p:nvGrpSpPr>
        <p:cNvPr id="1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Google Shape;170;p33"/>
          <p:cNvSpPr txBox="1">
            <a:spLocks noGrp="1"/>
          </p:cNvSpPr>
          <p:nvPr>
            <p:ph type="title"/>
          </p:nvPr>
        </p:nvSpPr>
        <p:spPr>
          <a:xfrm>
            <a:off x="1098550" y="273844"/>
            <a:ext cx="7416799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71" name="Google Shape;171;p33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72" name="Google Shape;172;p33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73" name="Google Shape;173;p33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13" Type="http://schemas.openxmlformats.org/officeDocument/2006/relationships/slideLayout" Target="../slideLayouts/slideLayout24.xml"/><Relationship Id="rId18" Type="http://schemas.openxmlformats.org/officeDocument/2006/relationships/slideLayout" Target="../slideLayouts/slideLayout29.xml"/><Relationship Id="rId3" Type="http://schemas.openxmlformats.org/officeDocument/2006/relationships/slideLayout" Target="../slideLayouts/slideLayout14.xml"/><Relationship Id="rId21" Type="http://schemas.openxmlformats.org/officeDocument/2006/relationships/theme" Target="../theme/theme2.xml"/><Relationship Id="rId7" Type="http://schemas.openxmlformats.org/officeDocument/2006/relationships/slideLayout" Target="../slideLayouts/slideLayout18.xml"/><Relationship Id="rId12" Type="http://schemas.openxmlformats.org/officeDocument/2006/relationships/slideLayout" Target="../slideLayouts/slideLayout23.xml"/><Relationship Id="rId17" Type="http://schemas.openxmlformats.org/officeDocument/2006/relationships/slideLayout" Target="../slideLayouts/slideLayout28.xml"/><Relationship Id="rId2" Type="http://schemas.openxmlformats.org/officeDocument/2006/relationships/slideLayout" Target="../slideLayouts/slideLayout13.xml"/><Relationship Id="rId16" Type="http://schemas.openxmlformats.org/officeDocument/2006/relationships/slideLayout" Target="../slideLayouts/slideLayout27.xml"/><Relationship Id="rId20" Type="http://schemas.openxmlformats.org/officeDocument/2006/relationships/slideLayout" Target="../slideLayouts/slideLayout31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5" Type="http://schemas.openxmlformats.org/officeDocument/2006/relationships/slideLayout" Target="../slideLayouts/slideLayout26.xml"/><Relationship Id="rId10" Type="http://schemas.openxmlformats.org/officeDocument/2006/relationships/slideLayout" Target="../slideLayouts/slideLayout21.xml"/><Relationship Id="rId19" Type="http://schemas.openxmlformats.org/officeDocument/2006/relationships/slideLayout" Target="../slideLayouts/slideLayout30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Relationship Id="rId14" Type="http://schemas.openxmlformats.org/officeDocument/2006/relationships/slideLayout" Target="../slideLayouts/slideLayout25.xml"/><Relationship Id="rId22" Type="http://schemas.openxmlformats.org/officeDocument/2006/relationships/image" Target="../media/image1.jp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marL="914400" lvl="1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marL="1371600" lvl="2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marL="1828800" lvl="3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marL="2286000" lvl="4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marL="2743200" lvl="5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marL="3200400" lvl="6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marL="3657600" lvl="7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marL="4114800" lvl="8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3"/>
          <p:cNvSpPr txBox="1">
            <a:spLocks noGrp="1"/>
          </p:cNvSpPr>
          <p:nvPr>
            <p:ph type="title"/>
          </p:nvPr>
        </p:nvSpPr>
        <p:spPr>
          <a:xfrm>
            <a:off x="1098550" y="273844"/>
            <a:ext cx="7416799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Calibri"/>
              <a:buNone/>
              <a:defRPr sz="33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9pPr>
          </a:lstStyle>
          <a:p>
            <a:endParaRPr/>
          </a:p>
        </p:txBody>
      </p:sp>
      <p:sp>
        <p:nvSpPr>
          <p:cNvPr id="52" name="Google Shape;52;p13"/>
          <p:cNvSpPr txBox="1">
            <a:spLocks noGrp="1"/>
          </p:cNvSpPr>
          <p:nvPr>
            <p:ph type="body" idx="1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marR="0" lvl="0" indent="-361950" algn="l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•"/>
              <a:defRPr sz="21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2385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3" name="Google Shape;53;p13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4" name="Google Shape;54;p13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100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5" name="Google Shape;55;p13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  <p:pic>
        <p:nvPicPr>
          <p:cNvPr id="56" name="Google Shape;56;p13" descr="https://scontent-gru.xx.fbcdn.net/hphotos-xfp1/v/t1.0-9/10550955_973364799357819_6866990541106677591_n.jpg?oh=75a66e5426574f3d9cd5df61457c91b4&amp;oe=557DE048"/>
          <p:cNvPicPr preferRelativeResize="0"/>
          <p:nvPr/>
        </p:nvPicPr>
        <p:blipFill rotWithShape="1">
          <a:blip r:embed="rId22">
            <a:alphaModFix/>
          </a:blip>
          <a:srcRect/>
          <a:stretch/>
        </p:blipFill>
        <p:spPr>
          <a:xfrm>
            <a:off x="73819" y="34528"/>
            <a:ext cx="1126331" cy="1126331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57" name="Google Shape;57;p13"/>
          <p:cNvCxnSpPr/>
          <p:nvPr/>
        </p:nvCxnSpPr>
        <p:spPr>
          <a:xfrm rot="10800000" flipH="1">
            <a:off x="142875" y="1268016"/>
            <a:ext cx="8924925" cy="7144"/>
          </a:xfrm>
          <a:prstGeom prst="straightConnector1">
            <a:avLst/>
          </a:prstGeom>
          <a:noFill/>
          <a:ln w="19050" cap="flat" cmpd="sng">
            <a:solidFill>
              <a:srgbClr val="006600"/>
            </a:solidFill>
            <a:prstDash val="solid"/>
            <a:miter lim="800000"/>
            <a:headEnd type="none" w="sm" len="sm"/>
            <a:tailEnd type="none" w="sm" len="sm"/>
          </a:ln>
        </p:spPr>
      </p:cxn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59" r:id="rId1"/>
    <p:sldLayoutId id="2147483660" r:id="rId2"/>
    <p:sldLayoutId id="2147483661" r:id="rId3"/>
    <p:sldLayoutId id="2147483662" r:id="rId4"/>
    <p:sldLayoutId id="2147483663" r:id="rId5"/>
    <p:sldLayoutId id="2147483664" r:id="rId6"/>
    <p:sldLayoutId id="2147483665" r:id="rId7"/>
    <p:sldLayoutId id="2147483666" r:id="rId8"/>
    <p:sldLayoutId id="2147483667" r:id="rId9"/>
    <p:sldLayoutId id="2147483668" r:id="rId10"/>
    <p:sldLayoutId id="2147483669" r:id="rId11"/>
    <p:sldLayoutId id="2147483670" r:id="rId12"/>
    <p:sldLayoutId id="2147483671" r:id="rId13"/>
    <p:sldLayoutId id="2147483672" r:id="rId14"/>
    <p:sldLayoutId id="2147483673" r:id="rId15"/>
    <p:sldLayoutId id="2147483674" r:id="rId16"/>
    <p:sldLayoutId id="2147483675" r:id="rId17"/>
    <p:sldLayoutId id="2147483676" r:id="rId18"/>
    <p:sldLayoutId id="2147483677" r:id="rId19"/>
    <p:sldLayoutId id="2147483678" r:id="rId20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hyperlink" Target="mailto:carloseduardodantas@iftm.edu.br" TargetMode="Externa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Relationship Id="rId4" Type="http://schemas.openxmlformats.org/officeDocument/2006/relationships/hyperlink" Target="https://carloseduardoxp.github.io/" TargetMode="Externa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3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3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3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3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3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e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8.jpe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3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3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3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3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11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13.png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3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3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15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3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3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3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3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19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3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22.gif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3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3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3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Google Shape;179;p34"/>
          <p:cNvSpPr txBox="1">
            <a:spLocks noGrp="1"/>
          </p:cNvSpPr>
          <p:nvPr>
            <p:ph type="ctrTitle"/>
          </p:nvPr>
        </p:nvSpPr>
        <p:spPr>
          <a:xfrm>
            <a:off x="954055" y="248121"/>
            <a:ext cx="8285584" cy="98075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Autofit/>
          </a:bodyPr>
          <a:lstStyle/>
          <a:p>
            <a:pPr lvl="0">
              <a:lnSpc>
                <a:spcPct val="150000"/>
              </a:lnSpc>
              <a:buSzPts val="1800"/>
            </a:pPr>
            <a:r>
              <a:rPr lang="pt-BR" sz="1800" b="1" dirty="0">
                <a:latin typeface="Arial"/>
                <a:ea typeface="Arial"/>
                <a:cs typeface="Arial"/>
                <a:sym typeface="Arial"/>
              </a:rPr>
              <a:t>Instituto Federal de Educação, Ciência e Tecnologia</a:t>
            </a:r>
            <a:br>
              <a:rPr lang="pt-BR" sz="1800" b="1" dirty="0">
                <a:latin typeface="Arial"/>
                <a:ea typeface="Arial"/>
                <a:cs typeface="Arial"/>
                <a:sym typeface="Arial"/>
              </a:rPr>
            </a:br>
            <a:r>
              <a:rPr lang="pt-BR" sz="1800" b="1" dirty="0">
                <a:latin typeface="Arial"/>
                <a:ea typeface="Arial"/>
                <a:cs typeface="Arial"/>
                <a:sym typeface="Arial"/>
              </a:rPr>
              <a:t>Triângulo Mineiro – Campus Uberlândia Centro</a:t>
            </a:r>
            <a:br>
              <a:rPr lang="pt-BR" sz="1800" b="1" dirty="0">
                <a:latin typeface="Arial"/>
                <a:ea typeface="Arial"/>
                <a:cs typeface="Arial"/>
                <a:sym typeface="Arial"/>
              </a:rPr>
            </a:br>
            <a:r>
              <a:rPr lang="pt-BR" sz="1600" dirty="0">
                <a:latin typeface="Arial"/>
                <a:ea typeface="Arial"/>
                <a:cs typeface="Arial"/>
                <a:sym typeface="Arial"/>
              </a:rPr>
              <a:t>Curso </a:t>
            </a:r>
            <a:r>
              <a:rPr lang="pt-BR" sz="1600" dirty="0" smtClean="0">
                <a:latin typeface="Arial"/>
                <a:ea typeface="Arial"/>
                <a:cs typeface="Arial"/>
                <a:sym typeface="Arial"/>
              </a:rPr>
              <a:t>Técnico - Integrado</a:t>
            </a:r>
            <a:endParaRPr sz="1500" dirty="0"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81" name="Google Shape;181;p34"/>
          <p:cNvCxnSpPr/>
          <p:nvPr/>
        </p:nvCxnSpPr>
        <p:spPr>
          <a:xfrm rot="10800000" flipH="1">
            <a:off x="142875" y="1257300"/>
            <a:ext cx="8943975" cy="17860"/>
          </a:xfrm>
          <a:prstGeom prst="straightConnector1">
            <a:avLst/>
          </a:prstGeom>
          <a:noFill/>
          <a:ln w="19050" cap="flat" cmpd="sng">
            <a:solidFill>
              <a:srgbClr val="006600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182" name="Google Shape;182;p34"/>
          <p:cNvSpPr txBox="1"/>
          <p:nvPr/>
        </p:nvSpPr>
        <p:spPr>
          <a:xfrm>
            <a:off x="472070" y="3429133"/>
            <a:ext cx="8285584" cy="98075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Autofit/>
          </a:bodyPr>
          <a:lstStyle/>
          <a:p>
            <a:pPr lvl="0" algn="ctr">
              <a:lnSpc>
                <a:spcPct val="150000"/>
              </a:lnSpc>
              <a:buClr>
                <a:schemeClr val="dk1"/>
              </a:buClr>
              <a:buSzPts val="3200"/>
            </a:pPr>
            <a:r>
              <a:rPr lang="pt-BR" sz="2400" b="1" dirty="0" smtClean="0">
                <a:solidFill>
                  <a:schemeClr val="dk1"/>
                </a:solidFill>
              </a:rPr>
              <a:t>UCP – Inteligência Artificial Aplicada na Engenharia de Software</a:t>
            </a:r>
            <a:endParaRPr lang="pt-BR" sz="1200" dirty="0"/>
          </a:p>
          <a:p>
            <a:pPr marL="0" marR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None/>
            </a:pPr>
            <a:r>
              <a:rPr lang="pt-BR" sz="1600" b="1" dirty="0" smtClean="0">
                <a:solidFill>
                  <a:schemeClr val="dk1"/>
                </a:solidFill>
              </a:rPr>
              <a:t>Slide 3 – Modelos de IA</a:t>
            </a:r>
            <a:endParaRPr sz="1600" b="1" i="0" u="none" strike="noStrike" cap="none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Calibri"/>
              <a:buNone/>
            </a:pPr>
            <a:endParaRPr sz="2100" b="1" i="0" u="none" strike="noStrike" cap="none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lang="pt-BR" sz="1800" b="0" i="0" u="none" strike="noStrike" cap="none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Prof. Carlos Eduardo de Carvalho Dantas</a:t>
            </a:r>
            <a:endParaRPr sz="1100" dirty="0"/>
          </a:p>
          <a:p>
            <a:pPr marL="0" marR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None/>
            </a:pPr>
            <a:r>
              <a:rPr lang="pt-BR" sz="1500" b="0" i="0" u="sng" strike="noStrike" cap="none" dirty="0">
                <a:solidFill>
                  <a:schemeClr val="hlink"/>
                </a:solidFill>
                <a:latin typeface="Arial"/>
                <a:ea typeface="Arial"/>
                <a:cs typeface="Arial"/>
                <a:sym typeface="Arial"/>
                <a:hlinkClick r:id="rId3"/>
              </a:rPr>
              <a:t>carloseduardodantas@iftm.edu.br</a:t>
            </a:r>
            <a:endParaRPr sz="1500" b="0" i="0" u="none" strike="noStrike" cap="none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None/>
            </a:pPr>
            <a:r>
              <a:rPr lang="pt-BR" sz="1500" dirty="0">
                <a:solidFill>
                  <a:schemeClr val="dk1"/>
                </a:solidFill>
                <a:hlinkClick r:id="rId4"/>
              </a:rPr>
              <a:t>https://carloseduardoxp.github.io</a:t>
            </a:r>
            <a:r>
              <a:rPr lang="pt-BR" sz="1500" dirty="0" smtClean="0">
                <a:solidFill>
                  <a:schemeClr val="dk1"/>
                </a:solidFill>
                <a:hlinkClick r:id="rId4"/>
              </a:rPr>
              <a:t>/</a:t>
            </a:r>
            <a:r>
              <a:rPr lang="pt-BR" sz="1500" dirty="0" smtClean="0">
                <a:solidFill>
                  <a:schemeClr val="dk1"/>
                </a:solidFill>
              </a:rPr>
              <a:t> </a:t>
            </a:r>
            <a:endParaRPr sz="1500" dirty="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" name="Google Shape;194;p36"/>
          <p:cNvSpPr txBox="1">
            <a:spLocks noGrp="1"/>
          </p:cNvSpPr>
          <p:nvPr>
            <p:ph type="title"/>
          </p:nvPr>
        </p:nvSpPr>
        <p:spPr>
          <a:xfrm>
            <a:off x="909735" y="273844"/>
            <a:ext cx="7605615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/>
          <a:p>
            <a:pPr lvl="0">
              <a:buSzPts val="2400"/>
            </a:pPr>
            <a:r>
              <a:rPr lang="pt-BR" sz="2400" dirty="0"/>
              <a:t>O que é um modelo de IA?</a:t>
            </a:r>
            <a:endParaRPr sz="2400" dirty="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5" name="Google Shape;195;p36"/>
          <p:cNvSpPr txBox="1">
            <a:spLocks noGrp="1"/>
          </p:cNvSpPr>
          <p:nvPr>
            <p:ph type="body" idx="1"/>
          </p:nvPr>
        </p:nvSpPr>
        <p:spPr>
          <a:xfrm>
            <a:off x="628650" y="1369218"/>
            <a:ext cx="7886700" cy="36368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</a:pPr>
            <a:endParaRPr/>
          </a:p>
          <a:p>
            <a:pPr marL="0" lvl="0" indent="0" algn="l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</a:pPr>
            <a:r>
              <a:rPr lang="pt-BR"/>
              <a:t>  </a:t>
            </a:r>
            <a:endParaRPr/>
          </a:p>
        </p:txBody>
      </p:sp>
      <p:sp>
        <p:nvSpPr>
          <p:cNvPr id="5" name="Google Shape;211;p38"/>
          <p:cNvSpPr txBox="1">
            <a:spLocks/>
          </p:cNvSpPr>
          <p:nvPr/>
        </p:nvSpPr>
        <p:spPr>
          <a:xfrm>
            <a:off x="486942" y="1369218"/>
            <a:ext cx="8170116" cy="377428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7500" algn="l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21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r>
              <a:rPr lang="pt-BR" dirty="0"/>
              <a:t>Um modelo de Inteligência Artificial é um programa treinado para aprender </a:t>
            </a:r>
            <a:r>
              <a:rPr lang="pt-BR" dirty="0" smtClean="0"/>
              <a:t>padrões </a:t>
            </a:r>
            <a:r>
              <a:rPr lang="pt-BR" dirty="0"/>
              <a:t>em dados e fazer previsões.</a:t>
            </a:r>
          </a:p>
          <a:p>
            <a:pPr lvl="1"/>
            <a:r>
              <a:rPr lang="pt-BR" dirty="0"/>
              <a:t>Ele aprende observando grandes quantidades de exemplos.</a:t>
            </a: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60032" y="2583563"/>
            <a:ext cx="4576665" cy="2140765"/>
          </a:xfrm>
          <a:prstGeom prst="rect">
            <a:avLst/>
          </a:prstGeom>
        </p:spPr>
      </p:pic>
      <p:sp>
        <p:nvSpPr>
          <p:cNvPr id="7" name="Google Shape;211;p38"/>
          <p:cNvSpPr txBox="1">
            <a:spLocks/>
          </p:cNvSpPr>
          <p:nvPr/>
        </p:nvSpPr>
        <p:spPr>
          <a:xfrm>
            <a:off x="87475" y="2488164"/>
            <a:ext cx="3915358" cy="26553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 lnSpcReduction="10000"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7500" algn="l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21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r>
              <a:rPr lang="pt-BR" dirty="0" smtClean="0"/>
              <a:t>No exemplo ao lado, uma rede neural do tipo MLP define a arquitetura do modelo, enquanto o algoritmo de treinamento utilizado é o backpropagation. Os dados de treinamento são os 10 dígitos, cada um representado por 35 pixels.</a:t>
            </a:r>
            <a:endParaRPr lang="pt-BR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" name="Google Shape;194;p36"/>
          <p:cNvSpPr txBox="1">
            <a:spLocks noGrp="1"/>
          </p:cNvSpPr>
          <p:nvPr>
            <p:ph type="title"/>
          </p:nvPr>
        </p:nvSpPr>
        <p:spPr>
          <a:xfrm>
            <a:off x="909735" y="273844"/>
            <a:ext cx="7605615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/>
          <a:p>
            <a:pPr lvl="0">
              <a:buSzPts val="2400"/>
            </a:pPr>
            <a:r>
              <a:rPr lang="pt-BR" sz="2400" dirty="0"/>
              <a:t>O que é um modelo de IA?</a:t>
            </a:r>
            <a:endParaRPr sz="2400" dirty="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5" name="Google Shape;195;p36"/>
          <p:cNvSpPr txBox="1">
            <a:spLocks noGrp="1"/>
          </p:cNvSpPr>
          <p:nvPr>
            <p:ph type="body" idx="1"/>
          </p:nvPr>
        </p:nvSpPr>
        <p:spPr>
          <a:xfrm>
            <a:off x="628650" y="1369218"/>
            <a:ext cx="7886700" cy="36368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</a:pPr>
            <a:endParaRPr/>
          </a:p>
          <a:p>
            <a:pPr marL="0" lvl="0" indent="0" algn="l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</a:pPr>
            <a:r>
              <a:rPr lang="pt-BR"/>
              <a:t>  </a:t>
            </a:r>
            <a:endParaRPr/>
          </a:p>
        </p:txBody>
      </p:sp>
      <p:sp>
        <p:nvSpPr>
          <p:cNvPr id="5" name="Google Shape;211;p38"/>
          <p:cNvSpPr txBox="1">
            <a:spLocks/>
          </p:cNvSpPr>
          <p:nvPr/>
        </p:nvSpPr>
        <p:spPr>
          <a:xfrm>
            <a:off x="486942" y="1369218"/>
            <a:ext cx="8170116" cy="377428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7500" algn="l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21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r>
              <a:rPr lang="pt-BR" dirty="0" smtClean="0"/>
              <a:t>E esse modelo?</a:t>
            </a:r>
            <a:endParaRPr lang="pt-BR" dirty="0"/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0362" y="1966828"/>
            <a:ext cx="8783276" cy="1209844"/>
          </a:xfrm>
          <a:prstGeom prst="rect">
            <a:avLst/>
          </a:prstGeom>
        </p:spPr>
      </p:pic>
      <p:pic>
        <p:nvPicPr>
          <p:cNvPr id="4" name="Picture 3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49682" y="3338428"/>
            <a:ext cx="6030167" cy="12098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7586943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" name="Google Shape;194;p36"/>
          <p:cNvSpPr txBox="1">
            <a:spLocks noGrp="1"/>
          </p:cNvSpPr>
          <p:nvPr>
            <p:ph type="title"/>
          </p:nvPr>
        </p:nvSpPr>
        <p:spPr>
          <a:xfrm>
            <a:off x="909735" y="273844"/>
            <a:ext cx="7605615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/>
          <a:p>
            <a:pPr lvl="0">
              <a:buSzPts val="2400"/>
            </a:pPr>
            <a:r>
              <a:rPr lang="pt-BR" sz="2400" dirty="0" smtClean="0"/>
              <a:t>Arquitetura Transformer</a:t>
            </a:r>
            <a:endParaRPr sz="2400" dirty="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5" name="Google Shape;195;p36"/>
          <p:cNvSpPr txBox="1">
            <a:spLocks noGrp="1"/>
          </p:cNvSpPr>
          <p:nvPr>
            <p:ph type="body" idx="1"/>
          </p:nvPr>
        </p:nvSpPr>
        <p:spPr>
          <a:xfrm>
            <a:off x="628650" y="1369218"/>
            <a:ext cx="7886700" cy="36368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</a:pPr>
            <a:endParaRPr/>
          </a:p>
          <a:p>
            <a:pPr marL="0" lvl="0" indent="0" algn="l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</a:pPr>
            <a:r>
              <a:rPr lang="pt-BR"/>
              <a:t>  </a:t>
            </a:r>
            <a:endParaRPr/>
          </a:p>
        </p:txBody>
      </p:sp>
      <p:sp>
        <p:nvSpPr>
          <p:cNvPr id="5" name="Google Shape;211;p38"/>
          <p:cNvSpPr txBox="1">
            <a:spLocks/>
          </p:cNvSpPr>
          <p:nvPr/>
        </p:nvSpPr>
        <p:spPr>
          <a:xfrm>
            <a:off x="101180" y="1369219"/>
            <a:ext cx="3417919" cy="377428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7500" algn="l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21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r>
              <a:rPr lang="pt-BR" dirty="0"/>
              <a:t>O Transformer analisa todas as palavras da frase simultaneamente e usa um mecanismo chamado atenção (attention) para identificar relações entre elas</a:t>
            </a:r>
            <a:r>
              <a:rPr lang="pt-BR" dirty="0" smtClean="0"/>
              <a:t>.</a:t>
            </a:r>
          </a:p>
          <a:p>
            <a:pPr lvl="1"/>
            <a:r>
              <a:rPr lang="pt-BR" dirty="0"/>
              <a:t>Com isso, o modelo consegue compreender o contexto da frase e gerar uma representação numérica do seu significado.</a:t>
            </a:r>
          </a:p>
        </p:txBody>
      </p:sp>
      <p:pic>
        <p:nvPicPr>
          <p:cNvPr id="1028" name="Picture 4" descr="Implement &quot;Attention is all you need&quot; - by Avi Chawla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797584" y="1369219"/>
            <a:ext cx="5346416" cy="369531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01088122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" name="Google Shape;195;p36"/>
          <p:cNvSpPr txBox="1">
            <a:spLocks noGrp="1"/>
          </p:cNvSpPr>
          <p:nvPr>
            <p:ph type="body" idx="1"/>
          </p:nvPr>
        </p:nvSpPr>
        <p:spPr>
          <a:xfrm>
            <a:off x="628650" y="1369218"/>
            <a:ext cx="7886700" cy="36368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</a:pPr>
            <a:endParaRPr/>
          </a:p>
          <a:p>
            <a:pPr marL="0" lvl="0" indent="0" algn="l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</a:pPr>
            <a:r>
              <a:rPr lang="pt-BR"/>
              <a:t>  </a:t>
            </a:r>
            <a:endParaRPr/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71613" y="9523"/>
            <a:ext cx="7710487" cy="51403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0511579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" name="Google Shape;194;p36"/>
          <p:cNvSpPr txBox="1">
            <a:spLocks noGrp="1"/>
          </p:cNvSpPr>
          <p:nvPr>
            <p:ph type="title"/>
          </p:nvPr>
        </p:nvSpPr>
        <p:spPr>
          <a:xfrm>
            <a:off x="909735" y="273844"/>
            <a:ext cx="7605615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/>
          <a:p>
            <a:pPr lvl="0">
              <a:buSzPts val="2400"/>
            </a:pPr>
            <a:r>
              <a:rPr lang="pt-BR" sz="2400" dirty="0" smtClean="0"/>
              <a:t>Sentence Transformers</a:t>
            </a:r>
            <a:endParaRPr sz="2400" dirty="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5" name="Google Shape;195;p36"/>
          <p:cNvSpPr txBox="1">
            <a:spLocks noGrp="1"/>
          </p:cNvSpPr>
          <p:nvPr>
            <p:ph type="body" idx="1"/>
          </p:nvPr>
        </p:nvSpPr>
        <p:spPr>
          <a:xfrm>
            <a:off x="628650" y="1369218"/>
            <a:ext cx="7886700" cy="36368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</a:pPr>
            <a:endParaRPr/>
          </a:p>
          <a:p>
            <a:pPr marL="0" lvl="0" indent="0" algn="l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</a:pPr>
            <a:r>
              <a:rPr lang="pt-BR"/>
              <a:t>  </a:t>
            </a:r>
            <a:endParaRPr/>
          </a:p>
        </p:txBody>
      </p:sp>
      <p:sp>
        <p:nvSpPr>
          <p:cNvPr id="5" name="Google Shape;211;p38"/>
          <p:cNvSpPr txBox="1">
            <a:spLocks/>
          </p:cNvSpPr>
          <p:nvPr/>
        </p:nvSpPr>
        <p:spPr>
          <a:xfrm>
            <a:off x="486942" y="1369218"/>
            <a:ext cx="8170116" cy="377428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7500" algn="l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21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r>
              <a:rPr lang="pt-BR" dirty="0" smtClean="0">
                <a:solidFill>
                  <a:schemeClr val="tx1"/>
                </a:solidFill>
              </a:rPr>
              <a:t>Sentence Transformer é uma biblioteca em Python </a:t>
            </a:r>
            <a:r>
              <a:rPr lang="pt-BR" dirty="0">
                <a:solidFill>
                  <a:schemeClr val="tx1"/>
                </a:solidFill>
              </a:rPr>
              <a:t>criada para facilitar o uso de modelos que geram embeddings de frases</a:t>
            </a:r>
            <a:r>
              <a:rPr lang="pt-BR" dirty="0" smtClean="0">
                <a:solidFill>
                  <a:schemeClr val="tx1"/>
                </a:solidFill>
              </a:rPr>
              <a:t>.</a:t>
            </a:r>
          </a:p>
          <a:p>
            <a:pPr lvl="1"/>
            <a:r>
              <a:rPr lang="pt-BR" dirty="0" smtClean="0">
                <a:solidFill>
                  <a:schemeClr val="tx1"/>
                </a:solidFill>
              </a:rPr>
              <a:t>Transforma </a:t>
            </a:r>
            <a:r>
              <a:rPr lang="pt-BR" dirty="0">
                <a:solidFill>
                  <a:schemeClr val="tx1"/>
                </a:solidFill>
              </a:rPr>
              <a:t>texto em vetores </a:t>
            </a:r>
            <a:r>
              <a:rPr lang="pt-BR" dirty="0" smtClean="0">
                <a:solidFill>
                  <a:schemeClr val="tx1"/>
                </a:solidFill>
              </a:rPr>
              <a:t>numéricos</a:t>
            </a:r>
          </a:p>
          <a:p>
            <a:pPr lvl="1"/>
            <a:r>
              <a:rPr lang="pt-BR" dirty="0" smtClean="0">
                <a:solidFill>
                  <a:schemeClr val="tx1"/>
                </a:solidFill>
              </a:rPr>
              <a:t>Fornece </a:t>
            </a:r>
            <a:r>
              <a:rPr lang="pt-BR" dirty="0">
                <a:solidFill>
                  <a:schemeClr val="tx1"/>
                </a:solidFill>
              </a:rPr>
              <a:t>utilitários para similaridade semântica</a:t>
            </a:r>
            <a:endParaRPr lang="pt-BR" dirty="0" smtClean="0">
              <a:solidFill>
                <a:schemeClr val="tx1"/>
              </a:solidFill>
            </a:endParaRPr>
          </a:p>
          <a:p>
            <a:endParaRPr lang="pt-BR" dirty="0" smtClean="0">
              <a:solidFill>
                <a:schemeClr val="tx1"/>
              </a:solidFill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576262" y="3256358"/>
            <a:ext cx="4572000" cy="954107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pt-BR" dirty="0">
                <a:solidFill>
                  <a:schemeClr val="bg2"/>
                </a:solidFill>
              </a:rPr>
              <a:t>embeddings = model.encode([</a:t>
            </a:r>
            <a:br>
              <a:rPr lang="pt-BR" dirty="0">
                <a:solidFill>
                  <a:schemeClr val="bg2"/>
                </a:solidFill>
              </a:rPr>
            </a:br>
            <a:r>
              <a:rPr lang="pt-BR" dirty="0">
                <a:solidFill>
                  <a:schemeClr val="bg2"/>
                </a:solidFill>
              </a:rPr>
              <a:t>"Eu gosto de programar",</a:t>
            </a:r>
            <a:br>
              <a:rPr lang="pt-BR" dirty="0">
                <a:solidFill>
                  <a:schemeClr val="bg2"/>
                </a:solidFill>
              </a:rPr>
            </a:br>
            <a:r>
              <a:rPr lang="pt-BR" dirty="0">
                <a:solidFill>
                  <a:schemeClr val="bg2"/>
                </a:solidFill>
              </a:rPr>
              <a:t>"Eu gosto de escrever código"</a:t>
            </a:r>
            <a:br>
              <a:rPr lang="pt-BR" dirty="0">
                <a:solidFill>
                  <a:schemeClr val="bg2"/>
                </a:solidFill>
              </a:rPr>
            </a:br>
            <a:r>
              <a:rPr lang="pt-BR" dirty="0">
                <a:solidFill>
                  <a:schemeClr val="bg2"/>
                </a:solidFill>
              </a:rPr>
              <a:t>])</a:t>
            </a:r>
          </a:p>
        </p:txBody>
      </p:sp>
      <p:cxnSp>
        <p:nvCxnSpPr>
          <p:cNvPr id="6" name="Straight Arrow Connector 5"/>
          <p:cNvCxnSpPr/>
          <p:nvPr/>
        </p:nvCxnSpPr>
        <p:spPr>
          <a:xfrm flipV="1">
            <a:off x="3209925" y="3614738"/>
            <a:ext cx="1938337" cy="1428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Rectangle 6"/>
          <p:cNvSpPr/>
          <p:nvPr/>
        </p:nvSpPr>
        <p:spPr>
          <a:xfrm>
            <a:off x="5581650" y="3419802"/>
            <a:ext cx="4572000" cy="523220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pt-BR" dirty="0">
                <a:solidFill>
                  <a:schemeClr val="bg2"/>
                </a:solidFill>
              </a:rPr>
              <a:t>[[0.12, -0.44, ...],</a:t>
            </a:r>
            <a:br>
              <a:rPr lang="pt-BR" dirty="0">
                <a:solidFill>
                  <a:schemeClr val="bg2"/>
                </a:solidFill>
              </a:rPr>
            </a:br>
            <a:r>
              <a:rPr lang="pt-BR" dirty="0">
                <a:solidFill>
                  <a:schemeClr val="bg2"/>
                </a:solidFill>
              </a:rPr>
              <a:t>[0.11, -0.42, ...]]</a:t>
            </a:r>
          </a:p>
        </p:txBody>
      </p:sp>
    </p:spTree>
    <p:extLst>
      <p:ext uri="{BB962C8B-B14F-4D97-AF65-F5344CB8AC3E}">
        <p14:creationId xmlns:p14="http://schemas.microsoft.com/office/powerpoint/2010/main" val="206643439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" name="Google Shape;194;p36"/>
          <p:cNvSpPr txBox="1">
            <a:spLocks noGrp="1"/>
          </p:cNvSpPr>
          <p:nvPr>
            <p:ph type="title"/>
          </p:nvPr>
        </p:nvSpPr>
        <p:spPr>
          <a:xfrm>
            <a:off x="909735" y="273844"/>
            <a:ext cx="8234265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/>
          <a:p>
            <a:pPr lvl="0">
              <a:buSzPts val="2400"/>
            </a:pPr>
            <a:r>
              <a:rPr lang="pt-BR" sz="2400" dirty="0" smtClean="0"/>
              <a:t>Modelos </a:t>
            </a:r>
            <a:r>
              <a:rPr lang="pt-BR" sz="2400" dirty="0"/>
              <a:t>Pré-Treinados - Sentence Transformer </a:t>
            </a:r>
            <a:r>
              <a:rPr lang="pt-BR" sz="2400" b="1" dirty="0">
                <a:solidFill>
                  <a:schemeClr val="bg2"/>
                </a:solidFill>
              </a:rPr>
              <a:t>all-MiniLM-L6-v2</a:t>
            </a:r>
            <a:endParaRPr sz="2400" dirty="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5" name="Google Shape;195;p36"/>
          <p:cNvSpPr txBox="1">
            <a:spLocks noGrp="1"/>
          </p:cNvSpPr>
          <p:nvPr>
            <p:ph type="body" idx="1"/>
          </p:nvPr>
        </p:nvSpPr>
        <p:spPr>
          <a:xfrm>
            <a:off x="628650" y="1369218"/>
            <a:ext cx="7886700" cy="36368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</a:pPr>
            <a:endParaRPr/>
          </a:p>
          <a:p>
            <a:pPr marL="0" lvl="0" indent="0" algn="l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</a:pPr>
            <a:r>
              <a:rPr lang="pt-BR"/>
              <a:t>  </a:t>
            </a:r>
            <a:endParaRPr/>
          </a:p>
        </p:txBody>
      </p:sp>
      <p:sp>
        <p:nvSpPr>
          <p:cNvPr id="5" name="Google Shape;211;p38"/>
          <p:cNvSpPr txBox="1">
            <a:spLocks/>
          </p:cNvSpPr>
          <p:nvPr/>
        </p:nvSpPr>
        <p:spPr>
          <a:xfrm>
            <a:off x="415504" y="973930"/>
            <a:ext cx="8170116" cy="377428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7500" algn="l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21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139700" indent="0">
              <a:buNone/>
            </a:pPr>
            <a:endParaRPr lang="pt-BR" b="1" dirty="0" smtClean="0">
              <a:solidFill>
                <a:schemeClr val="bg2"/>
              </a:solidFill>
            </a:endParaRPr>
          </a:p>
          <a:p>
            <a:r>
              <a:rPr lang="pt-BR" b="1" dirty="0" smtClean="0">
                <a:solidFill>
                  <a:schemeClr val="bg2"/>
                </a:solidFill>
              </a:rPr>
              <a:t>all-MiniLM-L6-v2</a:t>
            </a:r>
            <a:r>
              <a:rPr lang="pt-BR" dirty="0" smtClean="0"/>
              <a:t> </a:t>
            </a:r>
            <a:r>
              <a:rPr lang="pt-BR" dirty="0"/>
              <a:t>é um modelo de linguagem baseado em </a:t>
            </a:r>
            <a:r>
              <a:rPr lang="pt-BR" dirty="0" smtClean="0"/>
              <a:t>Transformer </a:t>
            </a:r>
            <a:r>
              <a:rPr lang="pt-BR" dirty="0"/>
              <a:t>treinado para converter frases em embeddings semânticos (vetores numéricos</a:t>
            </a:r>
            <a:r>
              <a:rPr lang="pt-BR" dirty="0" smtClean="0"/>
              <a:t>).</a:t>
            </a:r>
          </a:p>
          <a:p>
            <a:endParaRPr lang="pt-BR" dirty="0"/>
          </a:p>
          <a:p>
            <a:r>
              <a:rPr lang="pt-BR" dirty="0"/>
              <a:t>O </a:t>
            </a:r>
            <a:r>
              <a:rPr lang="pt-BR" b="1" dirty="0">
                <a:solidFill>
                  <a:schemeClr val="bg2"/>
                </a:solidFill>
              </a:rPr>
              <a:t>all-MiniLM-L6-v2</a:t>
            </a:r>
            <a:r>
              <a:rPr lang="pt-BR" dirty="0"/>
              <a:t> é um modelo já treinado previamente para entender o significado de frases.</a:t>
            </a:r>
          </a:p>
          <a:p>
            <a:endParaRPr lang="pt-BR" dirty="0"/>
          </a:p>
          <a:p>
            <a:r>
              <a:rPr lang="pt-BR" dirty="0"/>
              <a:t>Assim, podemos utilizá-lo diretamente sem precisar treinar um modelo do zero.</a:t>
            </a:r>
          </a:p>
        </p:txBody>
      </p:sp>
    </p:spTree>
    <p:extLst>
      <p:ext uri="{BB962C8B-B14F-4D97-AF65-F5344CB8AC3E}">
        <p14:creationId xmlns:p14="http://schemas.microsoft.com/office/powerpoint/2010/main" val="305037678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" name="Google Shape;194;p36"/>
          <p:cNvSpPr txBox="1">
            <a:spLocks noGrp="1"/>
          </p:cNvSpPr>
          <p:nvPr>
            <p:ph type="title"/>
          </p:nvPr>
        </p:nvSpPr>
        <p:spPr>
          <a:xfrm>
            <a:off x="909735" y="273844"/>
            <a:ext cx="8234265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/>
          <a:p>
            <a:pPr lvl="0">
              <a:buSzPts val="2400"/>
            </a:pPr>
            <a:r>
              <a:rPr lang="pt-BR" sz="2400" dirty="0"/>
              <a:t>Modelos Pré-Treinados - Sentence Transformer </a:t>
            </a:r>
            <a:r>
              <a:rPr lang="pt-BR" sz="2400" b="1" dirty="0">
                <a:solidFill>
                  <a:schemeClr val="bg2"/>
                </a:solidFill>
              </a:rPr>
              <a:t>all-MiniLM-L6-v2</a:t>
            </a:r>
            <a:endParaRPr sz="2400" dirty="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5" name="Google Shape;195;p36"/>
          <p:cNvSpPr txBox="1">
            <a:spLocks noGrp="1"/>
          </p:cNvSpPr>
          <p:nvPr>
            <p:ph type="body" idx="1"/>
          </p:nvPr>
        </p:nvSpPr>
        <p:spPr>
          <a:xfrm>
            <a:off x="628650" y="1369218"/>
            <a:ext cx="7886700" cy="36368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</a:pPr>
            <a:endParaRPr/>
          </a:p>
          <a:p>
            <a:pPr marL="0" lvl="0" indent="0" algn="l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</a:pPr>
            <a:r>
              <a:rPr lang="pt-BR"/>
              <a:t>  </a:t>
            </a:r>
            <a:endParaRPr/>
          </a:p>
        </p:txBody>
      </p:sp>
      <p:sp>
        <p:nvSpPr>
          <p:cNvPr id="5" name="Google Shape;211;p38"/>
          <p:cNvSpPr txBox="1">
            <a:spLocks/>
          </p:cNvSpPr>
          <p:nvPr/>
        </p:nvSpPr>
        <p:spPr>
          <a:xfrm>
            <a:off x="415504" y="973930"/>
            <a:ext cx="8170116" cy="377428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7500" algn="l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21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139700" indent="0">
              <a:buNone/>
            </a:pPr>
            <a:endParaRPr lang="pt-BR" dirty="0"/>
          </a:p>
        </p:txBody>
      </p:sp>
      <p:pic>
        <p:nvPicPr>
          <p:cNvPr id="4098" name="Picture 2" descr="Netflix: Plano com anúncios não dará acesso ao catálogo completo do  streaming - Rolling Stone Brasil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15504" y="2625118"/>
            <a:ext cx="2430780" cy="136731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6" name="Straight Arrow Connector 5"/>
          <p:cNvCxnSpPr/>
          <p:nvPr/>
        </p:nvCxnSpPr>
        <p:spPr>
          <a:xfrm>
            <a:off x="3154680" y="3187667"/>
            <a:ext cx="2415540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4104" name="Picture 8" descr="The Dirt”,a história do Mötley Crüe na Netflix – SCREAM &amp; YELL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955977" y="2625118"/>
            <a:ext cx="2783841" cy="163318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1" name="Google Shape;211;p38"/>
          <p:cNvSpPr txBox="1">
            <a:spLocks/>
          </p:cNvSpPr>
          <p:nvPr/>
        </p:nvSpPr>
        <p:spPr>
          <a:xfrm>
            <a:off x="196536" y="1955050"/>
            <a:ext cx="2868716" cy="5957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7500" algn="l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21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139700" indent="0">
              <a:buNone/>
            </a:pPr>
            <a:r>
              <a:rPr lang="pt-BR" b="1" dirty="0" smtClean="0">
                <a:solidFill>
                  <a:schemeClr val="bg2"/>
                </a:solidFill>
              </a:rPr>
              <a:t>Sentence Transformers</a:t>
            </a:r>
            <a:endParaRPr lang="pt-BR" dirty="0"/>
          </a:p>
        </p:txBody>
      </p:sp>
      <p:sp>
        <p:nvSpPr>
          <p:cNvPr id="12" name="Google Shape;211;p38"/>
          <p:cNvSpPr txBox="1">
            <a:spLocks/>
          </p:cNvSpPr>
          <p:nvPr/>
        </p:nvSpPr>
        <p:spPr>
          <a:xfrm>
            <a:off x="6102661" y="2029328"/>
            <a:ext cx="2868716" cy="5957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7500" algn="l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21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139700" indent="0">
              <a:buNone/>
            </a:pPr>
            <a:r>
              <a:rPr lang="pt-BR" sz="2000" b="1" dirty="0">
                <a:solidFill>
                  <a:schemeClr val="bg2"/>
                </a:solidFill>
              </a:rPr>
              <a:t>all-MiniLM-L6-v2</a:t>
            </a:r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224117668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" name="Google Shape;194;p36"/>
          <p:cNvSpPr txBox="1">
            <a:spLocks noGrp="1"/>
          </p:cNvSpPr>
          <p:nvPr>
            <p:ph type="title"/>
          </p:nvPr>
        </p:nvSpPr>
        <p:spPr>
          <a:xfrm>
            <a:off x="909735" y="273844"/>
            <a:ext cx="7605615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/>
          <a:p>
            <a:pPr lvl="0">
              <a:buSzPts val="2400"/>
            </a:pPr>
            <a:r>
              <a:rPr lang="pt-BR" sz="2400" dirty="0"/>
              <a:t>M</a:t>
            </a:r>
            <a:r>
              <a:rPr lang="pt-BR" sz="2400" dirty="0" smtClean="0"/>
              <a:t>odelos Pré-Treinados – Vantagens e Desvantagens</a:t>
            </a:r>
            <a:endParaRPr sz="2400" dirty="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5" name="Google Shape;195;p36"/>
          <p:cNvSpPr txBox="1">
            <a:spLocks noGrp="1"/>
          </p:cNvSpPr>
          <p:nvPr>
            <p:ph type="body" idx="1"/>
          </p:nvPr>
        </p:nvSpPr>
        <p:spPr>
          <a:xfrm>
            <a:off x="628650" y="1369218"/>
            <a:ext cx="7886700" cy="36368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</a:pPr>
            <a:endParaRPr/>
          </a:p>
          <a:p>
            <a:pPr marL="0" lvl="0" indent="0" algn="l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</a:pPr>
            <a:r>
              <a:rPr lang="pt-BR"/>
              <a:t>  </a:t>
            </a:r>
            <a:endParaRPr/>
          </a:p>
        </p:txBody>
      </p:sp>
      <p:sp>
        <p:nvSpPr>
          <p:cNvPr id="5" name="Google Shape;211;p38"/>
          <p:cNvSpPr txBox="1">
            <a:spLocks/>
          </p:cNvSpPr>
          <p:nvPr/>
        </p:nvSpPr>
        <p:spPr>
          <a:xfrm>
            <a:off x="486942" y="1369218"/>
            <a:ext cx="8170116" cy="377428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7500" algn="l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21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r>
              <a:rPr lang="pt-BR" dirty="0" smtClean="0"/>
              <a:t>Vantagens </a:t>
            </a:r>
            <a:r>
              <a:rPr lang="pt-BR" dirty="0"/>
              <a:t>dos modelos </a:t>
            </a:r>
            <a:r>
              <a:rPr lang="pt-BR" dirty="0" smtClean="0"/>
              <a:t>pré-treinados</a:t>
            </a:r>
          </a:p>
          <a:p>
            <a:pPr lvl="1"/>
            <a:r>
              <a:rPr lang="pt-BR" dirty="0"/>
              <a:t>não precisamos treinar o </a:t>
            </a:r>
            <a:r>
              <a:rPr lang="pt-BR" dirty="0" smtClean="0"/>
              <a:t>modelo</a:t>
            </a:r>
          </a:p>
          <a:p>
            <a:pPr lvl="1"/>
            <a:r>
              <a:rPr lang="pt-BR" dirty="0"/>
              <a:t>economiza tempo e recursos computacionais</a:t>
            </a:r>
          </a:p>
          <a:p>
            <a:pPr lvl="1"/>
            <a:r>
              <a:rPr lang="pt-BR" dirty="0"/>
              <a:t>pode ser usado diretamente em </a:t>
            </a:r>
            <a:r>
              <a:rPr lang="pt-BR" dirty="0" smtClean="0"/>
              <a:t>aplicações</a:t>
            </a:r>
          </a:p>
          <a:p>
            <a:r>
              <a:rPr lang="pt-BR" dirty="0" smtClean="0"/>
              <a:t>Desvantagens dos modelos pré-treinados</a:t>
            </a:r>
          </a:p>
          <a:p>
            <a:pPr lvl="1"/>
            <a:r>
              <a:rPr lang="pt-BR" dirty="0"/>
              <a:t>O modelo foi treinado com dados que você não </a:t>
            </a:r>
            <a:r>
              <a:rPr lang="pt-BR" dirty="0" smtClean="0"/>
              <a:t>controlou (pode ter erros ou padrões indesejados)</a:t>
            </a:r>
          </a:p>
          <a:p>
            <a:pPr lvl="1"/>
            <a:r>
              <a:rPr lang="pt-BR" dirty="0"/>
              <a:t>Se o modelo foi treinado com texto geral da internet, ele pode ter dificuldade </a:t>
            </a:r>
            <a:r>
              <a:rPr lang="pt-BR" dirty="0" smtClean="0"/>
              <a:t>com dados muito específicos.</a:t>
            </a:r>
          </a:p>
          <a:p>
            <a:pPr lvl="1"/>
            <a:r>
              <a:rPr lang="pt-BR" dirty="0"/>
              <a:t>Alguns modelos </a:t>
            </a:r>
            <a:r>
              <a:rPr lang="pt-BR" dirty="0" smtClean="0"/>
              <a:t>pré-treinados são grandes e exigem GPU ou muita memória</a:t>
            </a:r>
            <a:endParaRPr lang="pt-BR" dirty="0"/>
          </a:p>
          <a:p>
            <a:pPr lvl="1"/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17241593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" name="Google Shape;194;p36"/>
          <p:cNvSpPr txBox="1">
            <a:spLocks noGrp="1"/>
          </p:cNvSpPr>
          <p:nvPr>
            <p:ph type="title"/>
          </p:nvPr>
        </p:nvSpPr>
        <p:spPr>
          <a:xfrm>
            <a:off x="909735" y="273844"/>
            <a:ext cx="7605615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/>
          <a:p>
            <a:pPr lvl="0">
              <a:buSzPts val="2400"/>
            </a:pPr>
            <a:r>
              <a:rPr lang="pt-BR" sz="2400" dirty="0" smtClean="0"/>
              <a:t>Alguns Modelos </a:t>
            </a:r>
            <a:r>
              <a:rPr lang="pt-BR" sz="2400" dirty="0" smtClean="0"/>
              <a:t>Pré-Treinados acessíveis via Python</a:t>
            </a:r>
            <a:endParaRPr sz="2400" dirty="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5" name="Google Shape;195;p36"/>
          <p:cNvSpPr txBox="1">
            <a:spLocks noGrp="1"/>
          </p:cNvSpPr>
          <p:nvPr>
            <p:ph type="body" idx="1"/>
          </p:nvPr>
        </p:nvSpPr>
        <p:spPr>
          <a:xfrm>
            <a:off x="628650" y="1369218"/>
            <a:ext cx="7886700" cy="36368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</a:pPr>
            <a:endParaRPr/>
          </a:p>
          <a:p>
            <a:pPr marL="0" lvl="0" indent="0" algn="l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</a:pPr>
            <a:r>
              <a:rPr lang="pt-BR"/>
              <a:t>  </a:t>
            </a:r>
            <a:endParaRPr/>
          </a:p>
        </p:txBody>
      </p:sp>
      <p:sp>
        <p:nvSpPr>
          <p:cNvPr id="5" name="Google Shape;211;p38"/>
          <p:cNvSpPr txBox="1">
            <a:spLocks/>
          </p:cNvSpPr>
          <p:nvPr/>
        </p:nvSpPr>
        <p:spPr>
          <a:xfrm>
            <a:off x="486942" y="1369218"/>
            <a:ext cx="8170116" cy="377428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 lnSpcReduction="10000"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7500" algn="l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21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r>
              <a:rPr lang="pt-BR" dirty="0" smtClean="0"/>
              <a:t>1) CodeBERT (Microsoft) – entendimento de código</a:t>
            </a:r>
          </a:p>
          <a:p>
            <a:pPr lvl="1"/>
            <a:r>
              <a:rPr lang="pt-BR" dirty="0" smtClean="0"/>
              <a:t>Ex: Similaridade de Código, busca de Código, classificação</a:t>
            </a:r>
          </a:p>
          <a:p>
            <a:pPr marL="596900" lvl="1" indent="0">
              <a:buNone/>
            </a:pPr>
            <a:endParaRPr lang="pt-BR" dirty="0"/>
          </a:p>
          <a:p>
            <a:r>
              <a:rPr lang="pt-BR" dirty="0"/>
              <a:t>2</a:t>
            </a:r>
            <a:r>
              <a:rPr lang="pt-BR" dirty="0" smtClean="0"/>
              <a:t>) </a:t>
            </a:r>
            <a:r>
              <a:rPr lang="pt-BR" dirty="0"/>
              <a:t>StarCoder </a:t>
            </a:r>
            <a:r>
              <a:rPr lang="pt-BR" dirty="0" smtClean="0"/>
              <a:t>(BigCode) – geração de código em larga escala</a:t>
            </a:r>
          </a:p>
          <a:p>
            <a:pPr lvl="1"/>
            <a:r>
              <a:rPr lang="pt-BR" dirty="0" smtClean="0"/>
              <a:t>Ex: autocompletar código, geração de funções</a:t>
            </a:r>
          </a:p>
          <a:p>
            <a:pPr lvl="1"/>
            <a:endParaRPr lang="pt-BR" dirty="0"/>
          </a:p>
          <a:p>
            <a:r>
              <a:rPr lang="pt-BR" dirty="0"/>
              <a:t>3) Qwen (Alibaba Cloud / Tongyi Lab) – modelo geral para texto e código</a:t>
            </a:r>
          </a:p>
          <a:p>
            <a:pPr lvl="1"/>
            <a:r>
              <a:rPr lang="pt-BR" dirty="0"/>
              <a:t>Ex: refatoração, explicação e geração de </a:t>
            </a:r>
            <a:r>
              <a:rPr lang="pt-BR" dirty="0" smtClean="0"/>
              <a:t>código</a:t>
            </a:r>
          </a:p>
          <a:p>
            <a:pPr lvl="1"/>
            <a:endParaRPr lang="pt-BR" dirty="0"/>
          </a:p>
          <a:p>
            <a:r>
              <a:rPr lang="pt-BR" dirty="0"/>
              <a:t>4) Code Llama (Meta) – geração e análise de código</a:t>
            </a:r>
          </a:p>
          <a:p>
            <a:pPr lvl="1"/>
            <a:r>
              <a:rPr lang="pt-BR" dirty="0"/>
              <a:t>Ex: geração de código, explicação de código, sugestão de correções</a:t>
            </a:r>
            <a:endParaRPr lang="pt-BR" dirty="0" smtClean="0"/>
          </a:p>
        </p:txBody>
      </p:sp>
    </p:spTree>
    <p:extLst>
      <p:ext uri="{BB962C8B-B14F-4D97-AF65-F5344CB8AC3E}">
        <p14:creationId xmlns:p14="http://schemas.microsoft.com/office/powerpoint/2010/main" val="313202704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" name="Google Shape;194;p36"/>
          <p:cNvSpPr txBox="1">
            <a:spLocks noGrp="1"/>
          </p:cNvSpPr>
          <p:nvPr>
            <p:ph type="title"/>
          </p:nvPr>
        </p:nvSpPr>
        <p:spPr>
          <a:xfrm>
            <a:off x="909735" y="273844"/>
            <a:ext cx="8234265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/>
          <a:p>
            <a:pPr lvl="0">
              <a:buSzPts val="2400"/>
            </a:pPr>
            <a:r>
              <a:rPr lang="pt-BR" sz="2400" dirty="0"/>
              <a:t>Se GPT e Gemini respondem </a:t>
            </a:r>
            <a:r>
              <a:rPr lang="pt-BR" sz="2400" dirty="0" smtClean="0"/>
              <a:t>(quase) tudo</a:t>
            </a:r>
            <a:r>
              <a:rPr lang="pt-BR" sz="2400" dirty="0"/>
              <a:t>, por que existem tantos modelos?</a:t>
            </a:r>
            <a:endParaRPr sz="2400" dirty="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5" name="Google Shape;195;p36"/>
          <p:cNvSpPr txBox="1">
            <a:spLocks noGrp="1"/>
          </p:cNvSpPr>
          <p:nvPr>
            <p:ph type="body" idx="1"/>
          </p:nvPr>
        </p:nvSpPr>
        <p:spPr>
          <a:xfrm>
            <a:off x="628650" y="1369218"/>
            <a:ext cx="7886700" cy="36368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</a:pPr>
            <a:endParaRPr/>
          </a:p>
          <a:p>
            <a:pPr marL="0" lvl="0" indent="0" algn="l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</a:pPr>
            <a:r>
              <a:rPr lang="pt-BR"/>
              <a:t>  </a:t>
            </a:r>
            <a:endParaRPr/>
          </a:p>
        </p:txBody>
      </p:sp>
      <p:sp>
        <p:nvSpPr>
          <p:cNvPr id="5" name="Google Shape;211;p38"/>
          <p:cNvSpPr txBox="1">
            <a:spLocks/>
          </p:cNvSpPr>
          <p:nvPr/>
        </p:nvSpPr>
        <p:spPr>
          <a:xfrm>
            <a:off x="486942" y="1369218"/>
            <a:ext cx="8170116" cy="377428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 lnSpcReduction="10000"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7500" algn="l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21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r>
              <a:rPr lang="pt-BR" dirty="0"/>
              <a:t>1. </a:t>
            </a:r>
            <a:r>
              <a:rPr lang="pt-BR" dirty="0" smtClean="0"/>
              <a:t>Especialização</a:t>
            </a:r>
            <a:endParaRPr lang="pt-BR" dirty="0"/>
          </a:p>
          <a:p>
            <a:pPr lvl="1"/>
            <a:r>
              <a:rPr lang="pt-BR" dirty="0"/>
              <a:t>Alguns modelos são treinados para tarefas </a:t>
            </a:r>
            <a:r>
              <a:rPr lang="pt-BR" dirty="0" smtClean="0"/>
              <a:t>específicas:</a:t>
            </a:r>
          </a:p>
          <a:p>
            <a:pPr lvl="1"/>
            <a:r>
              <a:rPr lang="pt-BR" dirty="0" smtClean="0"/>
              <a:t>geração </a:t>
            </a:r>
            <a:r>
              <a:rPr lang="pt-BR" dirty="0"/>
              <a:t>de </a:t>
            </a:r>
            <a:r>
              <a:rPr lang="pt-BR" dirty="0" smtClean="0"/>
              <a:t>código (ex: Deep </a:t>
            </a:r>
            <a:r>
              <a:rPr lang="pt-BR" dirty="0"/>
              <a:t>Seek Coder e Code Llama)</a:t>
            </a:r>
          </a:p>
          <a:p>
            <a:pPr lvl="1"/>
            <a:r>
              <a:rPr lang="pt-BR" dirty="0" smtClean="0"/>
              <a:t>tradução</a:t>
            </a:r>
            <a:endParaRPr lang="pt-BR" dirty="0"/>
          </a:p>
          <a:p>
            <a:pPr lvl="1"/>
            <a:r>
              <a:rPr lang="pt-BR" dirty="0"/>
              <a:t>análise de </a:t>
            </a:r>
            <a:r>
              <a:rPr lang="pt-BR" dirty="0" smtClean="0"/>
              <a:t>sentimentos</a:t>
            </a:r>
            <a:endParaRPr lang="pt-BR" dirty="0"/>
          </a:p>
          <a:p>
            <a:pPr lvl="1"/>
            <a:r>
              <a:rPr lang="pt-BR" dirty="0"/>
              <a:t>geração de </a:t>
            </a:r>
            <a:r>
              <a:rPr lang="pt-BR" dirty="0" smtClean="0"/>
              <a:t>embeddings</a:t>
            </a:r>
            <a:endParaRPr lang="pt-BR" dirty="0"/>
          </a:p>
          <a:p>
            <a:pPr lvl="1"/>
            <a:r>
              <a:rPr lang="pt-BR" dirty="0"/>
              <a:t>visão </a:t>
            </a:r>
            <a:r>
              <a:rPr lang="pt-BR" dirty="0" smtClean="0"/>
              <a:t>computacional</a:t>
            </a:r>
          </a:p>
          <a:p>
            <a:r>
              <a:rPr lang="pt-BR" dirty="0"/>
              <a:t>2. Custo </a:t>
            </a:r>
            <a:r>
              <a:rPr lang="pt-BR" dirty="0" smtClean="0"/>
              <a:t>computacional</a:t>
            </a:r>
          </a:p>
          <a:p>
            <a:pPr lvl="1"/>
            <a:r>
              <a:rPr lang="pt-BR" dirty="0"/>
              <a:t>Modelos muito </a:t>
            </a:r>
            <a:r>
              <a:rPr lang="pt-BR" dirty="0" smtClean="0"/>
              <a:t>grandes exigem GPUs caras e consomem muita memória</a:t>
            </a:r>
          </a:p>
          <a:p>
            <a:r>
              <a:rPr lang="pt-BR" dirty="0" smtClean="0"/>
              <a:t>3. Uso offline ou privado</a:t>
            </a:r>
          </a:p>
          <a:p>
            <a:pPr lvl="1"/>
            <a:r>
              <a:rPr lang="pt-BR" dirty="0"/>
              <a:t>Empresas e pesquisadores muitas vezes precisam de modelos </a:t>
            </a:r>
            <a:r>
              <a:rPr lang="pt-BR" dirty="0" smtClean="0"/>
              <a:t>que rodem localmente e não enviem dados para servidores externos</a:t>
            </a:r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98613485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" name="Google Shape;194;p36"/>
          <p:cNvSpPr txBox="1">
            <a:spLocks noGrp="1"/>
          </p:cNvSpPr>
          <p:nvPr>
            <p:ph type="title"/>
          </p:nvPr>
        </p:nvSpPr>
        <p:spPr>
          <a:xfrm>
            <a:off x="909735" y="273844"/>
            <a:ext cx="7605615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/>
          <a:p>
            <a:pPr>
              <a:buSzPts val="2400"/>
            </a:pPr>
            <a:r>
              <a:rPr lang="pt-BR" sz="2400" dirty="0" smtClean="0"/>
              <a:t>Code </a:t>
            </a:r>
            <a:r>
              <a:rPr lang="pt-BR" sz="2400" dirty="0"/>
              <a:t>BERT - entendimento de </a:t>
            </a:r>
            <a:r>
              <a:rPr lang="pt-BR" sz="2400" dirty="0" smtClean="0"/>
              <a:t>código</a:t>
            </a:r>
            <a:endParaRPr sz="2400" dirty="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5" name="Google Shape;195;p36"/>
          <p:cNvSpPr txBox="1">
            <a:spLocks noGrp="1"/>
          </p:cNvSpPr>
          <p:nvPr>
            <p:ph type="body" idx="1"/>
          </p:nvPr>
        </p:nvSpPr>
        <p:spPr>
          <a:xfrm>
            <a:off x="628650" y="1369218"/>
            <a:ext cx="7886700" cy="36368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</a:pPr>
            <a:endParaRPr dirty="0"/>
          </a:p>
          <a:p>
            <a:pPr marL="0" lvl="0" indent="0" algn="l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</a:pPr>
            <a:r>
              <a:rPr lang="pt-BR" dirty="0"/>
              <a:t>  </a:t>
            </a:r>
            <a:endParaRPr dirty="0"/>
          </a:p>
        </p:txBody>
      </p:sp>
      <p:sp>
        <p:nvSpPr>
          <p:cNvPr id="7" name="Rectangle 6"/>
          <p:cNvSpPr/>
          <p:nvPr/>
        </p:nvSpPr>
        <p:spPr>
          <a:xfrm>
            <a:off x="4380885" y="2136874"/>
            <a:ext cx="4134465" cy="1015663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000" dirty="0" err="1">
                <a:solidFill>
                  <a:srgbClr val="CE9178"/>
                </a:solidFill>
                <a:latin typeface="Consolas" panose="020B0609020204030204" pitchFamily="49" charset="0"/>
              </a:rPr>
              <a:t>int</a:t>
            </a:r>
            <a:r>
              <a:rPr lang="en-US" sz="2000" dirty="0">
                <a:solidFill>
                  <a:srgbClr val="CE9178"/>
                </a:solidFill>
                <a:latin typeface="Consolas" panose="020B0609020204030204" pitchFamily="49" charset="0"/>
              </a:rPr>
              <a:t> </a:t>
            </a:r>
            <a:r>
              <a:rPr lang="en-US" sz="2000" dirty="0" err="1">
                <a:solidFill>
                  <a:srgbClr val="CE9178"/>
                </a:solidFill>
                <a:latin typeface="Consolas" panose="020B0609020204030204" pitchFamily="49" charset="0"/>
              </a:rPr>
              <a:t>addNumbers</a:t>
            </a:r>
            <a:r>
              <a:rPr lang="en-US" sz="2000" dirty="0">
                <a:solidFill>
                  <a:srgbClr val="CE9178"/>
                </a:solidFill>
                <a:latin typeface="Consolas" panose="020B0609020204030204" pitchFamily="49" charset="0"/>
              </a:rPr>
              <a:t>(</a:t>
            </a:r>
            <a:r>
              <a:rPr lang="en-US" sz="2000" dirty="0" err="1">
                <a:solidFill>
                  <a:srgbClr val="CE9178"/>
                </a:solidFill>
                <a:latin typeface="Consolas" panose="020B0609020204030204" pitchFamily="49" charset="0"/>
              </a:rPr>
              <a:t>int</a:t>
            </a:r>
            <a:r>
              <a:rPr lang="en-US" sz="2000" dirty="0">
                <a:solidFill>
                  <a:srgbClr val="CE9178"/>
                </a:solidFill>
                <a:latin typeface="Consolas" panose="020B0609020204030204" pitchFamily="49" charset="0"/>
              </a:rPr>
              <a:t> </a:t>
            </a:r>
            <a:r>
              <a:rPr lang="en-US" sz="2000" dirty="0" err="1">
                <a:solidFill>
                  <a:srgbClr val="CE9178"/>
                </a:solidFill>
                <a:latin typeface="Consolas" panose="020B0609020204030204" pitchFamily="49" charset="0"/>
              </a:rPr>
              <a:t>x,int</a:t>
            </a:r>
            <a:r>
              <a:rPr lang="en-US" sz="2000" dirty="0">
                <a:solidFill>
                  <a:srgbClr val="CE9178"/>
                </a:solidFill>
                <a:latin typeface="Consolas" panose="020B0609020204030204" pitchFamily="49" charset="0"/>
              </a:rPr>
              <a:t> y</a:t>
            </a:r>
            <a:r>
              <a:rPr lang="en-US" sz="2000" dirty="0" smtClean="0">
                <a:solidFill>
                  <a:srgbClr val="CE9178"/>
                </a:solidFill>
                <a:latin typeface="Consolas" panose="020B0609020204030204" pitchFamily="49" charset="0"/>
              </a:rPr>
              <a:t>){</a:t>
            </a:r>
          </a:p>
          <a:p>
            <a:r>
              <a:rPr lang="en-US" sz="2000" dirty="0">
                <a:solidFill>
                  <a:srgbClr val="CE9178"/>
                </a:solidFill>
                <a:latin typeface="Consolas" panose="020B0609020204030204" pitchFamily="49" charset="0"/>
              </a:rPr>
              <a:t> </a:t>
            </a:r>
            <a:r>
              <a:rPr lang="en-US" sz="2000" dirty="0" smtClean="0">
                <a:solidFill>
                  <a:srgbClr val="CE9178"/>
                </a:solidFill>
                <a:latin typeface="Consolas" panose="020B0609020204030204" pitchFamily="49" charset="0"/>
              </a:rPr>
              <a:t>  return </a:t>
            </a:r>
            <a:r>
              <a:rPr lang="en-US" sz="2000" dirty="0" err="1">
                <a:solidFill>
                  <a:srgbClr val="CE9178"/>
                </a:solidFill>
                <a:latin typeface="Consolas" panose="020B0609020204030204" pitchFamily="49" charset="0"/>
              </a:rPr>
              <a:t>x+y</a:t>
            </a:r>
            <a:r>
              <a:rPr lang="en-US" sz="2000" dirty="0" smtClean="0">
                <a:solidFill>
                  <a:srgbClr val="CE9178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en-US" sz="2000" dirty="0" smtClean="0">
                <a:solidFill>
                  <a:srgbClr val="CE9178"/>
                </a:solidFill>
                <a:latin typeface="Consolas" panose="020B0609020204030204" pitchFamily="49" charset="0"/>
              </a:rPr>
              <a:t>}</a:t>
            </a:r>
            <a:endParaRPr lang="en-US" sz="2000" dirty="0">
              <a:solidFill>
                <a:srgbClr val="CCCCCC"/>
              </a:solidFill>
              <a:latin typeface="Consolas" panose="020B0609020204030204" pitchFamily="49" charset="0"/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514350" y="2164033"/>
            <a:ext cx="3147015" cy="1015663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000" dirty="0" err="1">
                <a:solidFill>
                  <a:srgbClr val="CE9178"/>
                </a:solidFill>
                <a:latin typeface="Consolas" panose="020B0609020204030204" pitchFamily="49" charset="0"/>
              </a:rPr>
              <a:t>int</a:t>
            </a:r>
            <a:r>
              <a:rPr lang="en-US" sz="2000" dirty="0">
                <a:solidFill>
                  <a:srgbClr val="CE9178"/>
                </a:solidFill>
                <a:latin typeface="Consolas" panose="020B0609020204030204" pitchFamily="49" charset="0"/>
              </a:rPr>
              <a:t> sum(</a:t>
            </a:r>
            <a:r>
              <a:rPr lang="en-US" sz="2000" dirty="0" err="1">
                <a:solidFill>
                  <a:srgbClr val="CE9178"/>
                </a:solidFill>
                <a:latin typeface="Consolas" panose="020B0609020204030204" pitchFamily="49" charset="0"/>
              </a:rPr>
              <a:t>int</a:t>
            </a:r>
            <a:r>
              <a:rPr lang="en-US" sz="2000" dirty="0">
                <a:solidFill>
                  <a:srgbClr val="CE9178"/>
                </a:solidFill>
                <a:latin typeface="Consolas" panose="020B0609020204030204" pitchFamily="49" charset="0"/>
              </a:rPr>
              <a:t> </a:t>
            </a:r>
            <a:r>
              <a:rPr lang="en-US" sz="2000" dirty="0" err="1">
                <a:solidFill>
                  <a:srgbClr val="CE9178"/>
                </a:solidFill>
                <a:latin typeface="Consolas" panose="020B0609020204030204" pitchFamily="49" charset="0"/>
              </a:rPr>
              <a:t>a,int</a:t>
            </a:r>
            <a:r>
              <a:rPr lang="en-US" sz="2000" dirty="0">
                <a:solidFill>
                  <a:srgbClr val="CE9178"/>
                </a:solidFill>
                <a:latin typeface="Consolas" panose="020B0609020204030204" pitchFamily="49" charset="0"/>
              </a:rPr>
              <a:t> b</a:t>
            </a:r>
            <a:r>
              <a:rPr lang="en-US" sz="2000" dirty="0" smtClean="0">
                <a:solidFill>
                  <a:srgbClr val="CE9178"/>
                </a:solidFill>
                <a:latin typeface="Consolas" panose="020B0609020204030204" pitchFamily="49" charset="0"/>
              </a:rPr>
              <a:t>){</a:t>
            </a:r>
          </a:p>
          <a:p>
            <a:r>
              <a:rPr lang="en-US" sz="2000" dirty="0">
                <a:solidFill>
                  <a:srgbClr val="CE9178"/>
                </a:solidFill>
                <a:latin typeface="Consolas" panose="020B0609020204030204" pitchFamily="49" charset="0"/>
              </a:rPr>
              <a:t> </a:t>
            </a:r>
            <a:r>
              <a:rPr lang="en-US" sz="2000" dirty="0" smtClean="0">
                <a:solidFill>
                  <a:srgbClr val="CE9178"/>
                </a:solidFill>
                <a:latin typeface="Consolas" panose="020B0609020204030204" pitchFamily="49" charset="0"/>
              </a:rPr>
              <a:t>  return </a:t>
            </a:r>
            <a:r>
              <a:rPr lang="en-US" sz="2000" dirty="0" err="1">
                <a:solidFill>
                  <a:srgbClr val="CE9178"/>
                </a:solidFill>
                <a:latin typeface="Consolas" panose="020B0609020204030204" pitchFamily="49" charset="0"/>
              </a:rPr>
              <a:t>a+b</a:t>
            </a:r>
            <a:r>
              <a:rPr lang="en-US" sz="2000" dirty="0" smtClean="0">
                <a:solidFill>
                  <a:srgbClr val="CE9178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en-US" sz="2000" dirty="0" smtClean="0">
                <a:solidFill>
                  <a:srgbClr val="CE9178"/>
                </a:solidFill>
                <a:latin typeface="Consolas" panose="020B0609020204030204" pitchFamily="49" charset="0"/>
              </a:rPr>
              <a:t>}</a:t>
            </a:r>
            <a:endParaRPr lang="en-US" sz="2000" dirty="0">
              <a:solidFill>
                <a:srgbClr val="CCCCCC"/>
              </a:solidFill>
              <a:latin typeface="Consolas" panose="020B0609020204030204" pitchFamily="49" charset="0"/>
            </a:endParaRPr>
          </a:p>
        </p:txBody>
      </p:sp>
      <p:sp>
        <p:nvSpPr>
          <p:cNvPr id="9" name="Rounded Rectangle 8"/>
          <p:cNvSpPr/>
          <p:nvPr/>
        </p:nvSpPr>
        <p:spPr>
          <a:xfrm>
            <a:off x="3309938" y="3843337"/>
            <a:ext cx="1771650" cy="985838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 smtClean="0"/>
              <a:t>São Similares?</a:t>
            </a:r>
            <a:endParaRPr lang="pt-BR" dirty="0"/>
          </a:p>
        </p:txBody>
      </p:sp>
      <p:cxnSp>
        <p:nvCxnSpPr>
          <p:cNvPr id="11" name="Straight Arrow Connector 10"/>
          <p:cNvCxnSpPr>
            <a:stCxn id="9" idx="0"/>
          </p:cNvCxnSpPr>
          <p:nvPr/>
        </p:nvCxnSpPr>
        <p:spPr>
          <a:xfrm flipH="1" flipV="1">
            <a:off x="2347913" y="2895600"/>
            <a:ext cx="1847850" cy="94773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Arrow Connector 12"/>
          <p:cNvCxnSpPr>
            <a:stCxn id="9" idx="0"/>
          </p:cNvCxnSpPr>
          <p:nvPr/>
        </p:nvCxnSpPr>
        <p:spPr>
          <a:xfrm flipV="1">
            <a:off x="4195763" y="2952750"/>
            <a:ext cx="1443037" cy="89058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6" name="Picture 15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03018" y="3293995"/>
            <a:ext cx="2735826" cy="1570662"/>
          </a:xfrm>
          <a:prstGeom prst="rect">
            <a:avLst/>
          </a:prstGeom>
        </p:spPr>
      </p:pic>
      <p:sp>
        <p:nvSpPr>
          <p:cNvPr id="14" name="Rectangle 13"/>
          <p:cNvSpPr/>
          <p:nvPr/>
        </p:nvSpPr>
        <p:spPr>
          <a:xfrm>
            <a:off x="721518" y="1435596"/>
            <a:ext cx="8391525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 err="1" smtClean="0"/>
              <a:t>Exemplo</a:t>
            </a:r>
            <a:r>
              <a:rPr lang="en-US" dirty="0" smtClean="0"/>
              <a:t>: </a:t>
            </a:r>
            <a:r>
              <a:rPr lang="en-US" dirty="0" err="1"/>
              <a:t>analisar</a:t>
            </a:r>
            <a:r>
              <a:rPr lang="en-US" dirty="0"/>
              <a:t> o </a:t>
            </a:r>
            <a:r>
              <a:rPr lang="en-US" dirty="0" err="1"/>
              <a:t>grau</a:t>
            </a:r>
            <a:r>
              <a:rPr lang="en-US" dirty="0"/>
              <a:t> de </a:t>
            </a:r>
            <a:r>
              <a:rPr lang="en-US" dirty="0" err="1"/>
              <a:t>similaridade</a:t>
            </a:r>
            <a:r>
              <a:rPr lang="en-US" dirty="0"/>
              <a:t> entre as </a:t>
            </a:r>
            <a:r>
              <a:rPr lang="en-US" dirty="0" err="1"/>
              <a:t>duas</a:t>
            </a:r>
            <a:r>
              <a:rPr lang="en-US" dirty="0"/>
              <a:t> </a:t>
            </a:r>
            <a:r>
              <a:rPr lang="en-US" dirty="0" err="1" smtClean="0"/>
              <a:t>funções</a:t>
            </a:r>
            <a:endParaRPr lang="en-US" dirty="0" smtClean="0"/>
          </a:p>
          <a:p>
            <a:pPr lvl="2"/>
            <a:r>
              <a:rPr lang="en-US" dirty="0" smtClean="0"/>
              <a:t>      </a:t>
            </a:r>
            <a:r>
              <a:rPr lang="en-US" dirty="0" err="1" smtClean="0"/>
              <a:t>Aluno</a:t>
            </a:r>
            <a:r>
              <a:rPr lang="en-US" dirty="0" smtClean="0"/>
              <a:t> </a:t>
            </a:r>
            <a:r>
              <a:rPr lang="en-US" dirty="0" err="1"/>
              <a:t>que</a:t>
            </a:r>
            <a:r>
              <a:rPr lang="en-US" dirty="0"/>
              <a:t> </a:t>
            </a:r>
            <a:r>
              <a:rPr lang="en-US" dirty="0" err="1"/>
              <a:t>faz</a:t>
            </a:r>
            <a:r>
              <a:rPr lang="en-US" dirty="0"/>
              <a:t> CTRL C + CTRL V do </a:t>
            </a:r>
            <a:r>
              <a:rPr lang="en-US" dirty="0" err="1" smtClean="0"/>
              <a:t>colega</a:t>
            </a:r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56867358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" name="Google Shape;194;p36"/>
          <p:cNvSpPr txBox="1">
            <a:spLocks noGrp="1"/>
          </p:cNvSpPr>
          <p:nvPr>
            <p:ph type="title"/>
          </p:nvPr>
        </p:nvSpPr>
        <p:spPr>
          <a:xfrm>
            <a:off x="909735" y="273844"/>
            <a:ext cx="7605615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/>
          <a:p>
            <a:pPr>
              <a:buSzPts val="2400"/>
            </a:pPr>
            <a:r>
              <a:rPr lang="pt-BR" sz="2400" dirty="0" smtClean="0"/>
              <a:t>Code </a:t>
            </a:r>
            <a:r>
              <a:rPr lang="pt-BR" sz="2400" dirty="0"/>
              <a:t>BERT - entendimento de </a:t>
            </a:r>
            <a:r>
              <a:rPr lang="pt-BR" sz="2400" dirty="0" smtClean="0"/>
              <a:t>código</a:t>
            </a:r>
            <a:endParaRPr sz="2400" dirty="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5" name="Google Shape;195;p36"/>
          <p:cNvSpPr txBox="1">
            <a:spLocks noGrp="1"/>
          </p:cNvSpPr>
          <p:nvPr>
            <p:ph type="body" idx="1"/>
          </p:nvPr>
        </p:nvSpPr>
        <p:spPr>
          <a:xfrm>
            <a:off x="628650" y="1369218"/>
            <a:ext cx="7886700" cy="36368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</a:pPr>
            <a:endParaRPr/>
          </a:p>
          <a:p>
            <a:pPr marL="0" lvl="0" indent="0" algn="l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</a:pPr>
            <a:r>
              <a:rPr lang="pt-BR"/>
              <a:t>  </a:t>
            </a:r>
            <a:endParaRPr/>
          </a:p>
        </p:txBody>
      </p:sp>
      <p:sp>
        <p:nvSpPr>
          <p:cNvPr id="5" name="Google Shape;211;p38"/>
          <p:cNvSpPr txBox="1">
            <a:spLocks/>
          </p:cNvSpPr>
          <p:nvPr/>
        </p:nvSpPr>
        <p:spPr>
          <a:xfrm>
            <a:off x="48792" y="1369218"/>
            <a:ext cx="4103050" cy="377428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7500" algn="l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21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r>
              <a:rPr lang="en-US" i="1" dirty="0">
                <a:solidFill>
                  <a:schemeClr val="bg2"/>
                </a:solidFill>
              </a:rPr>
              <a:t>pip install transformers</a:t>
            </a:r>
            <a:br>
              <a:rPr lang="en-US" i="1" dirty="0">
                <a:solidFill>
                  <a:schemeClr val="bg2"/>
                </a:solidFill>
              </a:rPr>
            </a:br>
            <a:r>
              <a:rPr lang="en-US" i="1" dirty="0">
                <a:solidFill>
                  <a:schemeClr val="bg2"/>
                </a:solidFill>
              </a:rPr>
              <a:t>pip install </a:t>
            </a:r>
            <a:r>
              <a:rPr lang="en-US" i="1" dirty="0" smtClean="0">
                <a:solidFill>
                  <a:schemeClr val="bg2"/>
                </a:solidFill>
              </a:rPr>
              <a:t>torch</a:t>
            </a:r>
          </a:p>
          <a:p>
            <a:endParaRPr lang="en-US" dirty="0"/>
          </a:p>
          <a:p>
            <a:endParaRPr lang="en-US" dirty="0" smtClean="0"/>
          </a:p>
          <a:p>
            <a:endParaRPr lang="en-US" dirty="0"/>
          </a:p>
          <a:p>
            <a:endParaRPr lang="en-US" dirty="0" smtClean="0"/>
          </a:p>
          <a:p>
            <a:endParaRPr lang="en-US" dirty="0"/>
          </a:p>
          <a:p>
            <a:endParaRPr lang="en-US" dirty="0" smtClean="0"/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51842" y="1328737"/>
            <a:ext cx="4992158" cy="3814762"/>
          </a:xfrm>
          <a:prstGeom prst="rect">
            <a:avLst/>
          </a:prstGeom>
        </p:spPr>
      </p:pic>
      <p:pic>
        <p:nvPicPr>
          <p:cNvPr id="3" name="Picture 2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6954" y="2311245"/>
            <a:ext cx="3286584" cy="876422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976313" y="4191000"/>
            <a:ext cx="1738312" cy="815116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 smtClean="0"/>
              <a:t>99% similares</a:t>
            </a:r>
            <a:endParaRPr lang="pt-BR" dirty="0"/>
          </a:p>
        </p:txBody>
      </p:sp>
      <p:cxnSp>
        <p:nvCxnSpPr>
          <p:cNvPr id="8" name="Straight Arrow Connector 7"/>
          <p:cNvCxnSpPr>
            <a:stCxn id="6" idx="0"/>
          </p:cNvCxnSpPr>
          <p:nvPr/>
        </p:nvCxnSpPr>
        <p:spPr>
          <a:xfrm flipV="1">
            <a:off x="1845469" y="3187667"/>
            <a:ext cx="0" cy="100333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05801397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" name="Google Shape;194;p36"/>
          <p:cNvSpPr txBox="1">
            <a:spLocks noGrp="1"/>
          </p:cNvSpPr>
          <p:nvPr>
            <p:ph type="title"/>
          </p:nvPr>
        </p:nvSpPr>
        <p:spPr>
          <a:xfrm>
            <a:off x="909735" y="273844"/>
            <a:ext cx="7605615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/>
          <a:p>
            <a:pPr lvl="0">
              <a:buSzPts val="2400"/>
            </a:pPr>
            <a:r>
              <a:rPr lang="pt-BR" sz="2400" dirty="0" smtClean="0"/>
              <a:t>Rodando o modelo Sentence Transformer (all-MiniLM-L2-V2)</a:t>
            </a:r>
            <a:endParaRPr sz="2400" dirty="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5" name="Google Shape;195;p36"/>
          <p:cNvSpPr txBox="1">
            <a:spLocks noGrp="1"/>
          </p:cNvSpPr>
          <p:nvPr>
            <p:ph type="body" idx="1"/>
          </p:nvPr>
        </p:nvSpPr>
        <p:spPr>
          <a:xfrm>
            <a:off x="628650" y="1369218"/>
            <a:ext cx="7886700" cy="36368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</a:pPr>
            <a:endParaRPr/>
          </a:p>
          <a:p>
            <a:pPr marL="0" lvl="0" indent="0" algn="l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</a:pPr>
            <a:r>
              <a:rPr lang="pt-BR"/>
              <a:t>  </a:t>
            </a:r>
            <a:endParaRPr/>
          </a:p>
        </p:txBody>
      </p:sp>
      <p:sp>
        <p:nvSpPr>
          <p:cNvPr id="5" name="Google Shape;211;p38"/>
          <p:cNvSpPr txBox="1">
            <a:spLocks/>
          </p:cNvSpPr>
          <p:nvPr/>
        </p:nvSpPr>
        <p:spPr>
          <a:xfrm>
            <a:off x="486942" y="1369218"/>
            <a:ext cx="8170116" cy="377428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7500" algn="l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21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 lang="en-US" dirty="0"/>
          </a:p>
          <a:p>
            <a:endParaRPr lang="en-US" dirty="0" smtClean="0"/>
          </a:p>
          <a:p>
            <a:endParaRPr lang="en-US" dirty="0"/>
          </a:p>
          <a:p>
            <a:endParaRPr lang="en-US" dirty="0" smtClean="0"/>
          </a:p>
          <a:p>
            <a:endParaRPr lang="en-US" dirty="0"/>
          </a:p>
          <a:p>
            <a:endParaRPr lang="en-US" dirty="0" smtClean="0"/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84415" y="1427260"/>
            <a:ext cx="5706985" cy="2680108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57706" y="4432899"/>
            <a:ext cx="2038635" cy="2476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3931974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" name="Google Shape;194;p36"/>
          <p:cNvSpPr txBox="1">
            <a:spLocks noGrp="1"/>
          </p:cNvSpPr>
          <p:nvPr>
            <p:ph type="title"/>
          </p:nvPr>
        </p:nvSpPr>
        <p:spPr>
          <a:xfrm>
            <a:off x="909735" y="273844"/>
            <a:ext cx="7605615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/>
          <a:p>
            <a:pPr lvl="0">
              <a:buSzPts val="2400"/>
            </a:pPr>
            <a:r>
              <a:rPr lang="pt-BR" sz="2400" dirty="0" smtClean="0"/>
              <a:t>Code Bert  vs Sentence Transformer</a:t>
            </a:r>
            <a:endParaRPr sz="2400" dirty="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5" name="Google Shape;195;p36"/>
          <p:cNvSpPr txBox="1">
            <a:spLocks noGrp="1"/>
          </p:cNvSpPr>
          <p:nvPr>
            <p:ph type="body" idx="1"/>
          </p:nvPr>
        </p:nvSpPr>
        <p:spPr>
          <a:xfrm>
            <a:off x="628650" y="1369218"/>
            <a:ext cx="7886700" cy="36368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</a:pPr>
            <a:endParaRPr/>
          </a:p>
          <a:p>
            <a:pPr marL="0" lvl="0" indent="0" algn="l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</a:pPr>
            <a:r>
              <a:rPr lang="pt-BR"/>
              <a:t>  </a:t>
            </a:r>
            <a:endParaRPr/>
          </a:p>
        </p:txBody>
      </p:sp>
      <p:sp>
        <p:nvSpPr>
          <p:cNvPr id="5" name="Google Shape;211;p38"/>
          <p:cNvSpPr txBox="1">
            <a:spLocks/>
          </p:cNvSpPr>
          <p:nvPr/>
        </p:nvSpPr>
        <p:spPr>
          <a:xfrm>
            <a:off x="486942" y="1369218"/>
            <a:ext cx="8170116" cy="377428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7500" algn="l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21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 lang="en-US" dirty="0"/>
          </a:p>
          <a:p>
            <a:endParaRPr lang="en-US" dirty="0" smtClean="0"/>
          </a:p>
          <a:p>
            <a:endParaRPr lang="en-US" dirty="0"/>
          </a:p>
          <a:p>
            <a:endParaRPr lang="en-US" dirty="0" smtClean="0"/>
          </a:p>
          <a:p>
            <a:endParaRPr lang="en-US" dirty="0"/>
          </a:p>
          <a:p>
            <a:endParaRPr lang="en-US" dirty="0" smtClean="0"/>
          </a:p>
        </p:txBody>
      </p:sp>
      <p:sp>
        <p:nvSpPr>
          <p:cNvPr id="7" name="Google Shape;211;p38"/>
          <p:cNvSpPr txBox="1">
            <a:spLocks/>
          </p:cNvSpPr>
          <p:nvPr/>
        </p:nvSpPr>
        <p:spPr>
          <a:xfrm>
            <a:off x="639342" y="1521618"/>
            <a:ext cx="8170116" cy="377428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7500" algn="l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21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r>
              <a:rPr lang="pt-BR" dirty="0" smtClean="0"/>
              <a:t>Por que o Code Bert gerou 99% de similaridade e o modelo </a:t>
            </a:r>
            <a:r>
              <a:rPr lang="pt-BR" sz="2000" dirty="0"/>
              <a:t>Sentence Transformer</a:t>
            </a:r>
            <a:r>
              <a:rPr lang="pt-BR" dirty="0" smtClean="0"/>
              <a:t> gerou 74%?</a:t>
            </a:r>
          </a:p>
          <a:p>
            <a:pPr lvl="1"/>
            <a:r>
              <a:rPr lang="pt-BR" dirty="0" smtClean="0"/>
              <a:t>Code Bert: treinado </a:t>
            </a:r>
            <a:r>
              <a:rPr lang="pt-BR" dirty="0"/>
              <a:t>com grandes conjuntos de código fonte e documentação, capturando melhor a semântica de programas.</a:t>
            </a:r>
            <a:endParaRPr lang="pt-BR" dirty="0" smtClean="0"/>
          </a:p>
          <a:p>
            <a:pPr lvl="1"/>
            <a:r>
              <a:rPr lang="pt-BR" dirty="0"/>
              <a:t>Sentence </a:t>
            </a:r>
            <a:r>
              <a:rPr lang="pt-BR" dirty="0" smtClean="0"/>
              <a:t>Transformer: treinado </a:t>
            </a:r>
            <a:r>
              <a:rPr lang="pt-BR" dirty="0"/>
              <a:t>para similaridade semântica de frases em linguagem natural, não especificamente para código.</a:t>
            </a:r>
            <a:endParaRPr lang="pt-BR" dirty="0" smtClean="0"/>
          </a:p>
        </p:txBody>
      </p:sp>
    </p:spTree>
    <p:extLst>
      <p:ext uri="{BB962C8B-B14F-4D97-AF65-F5344CB8AC3E}">
        <p14:creationId xmlns:p14="http://schemas.microsoft.com/office/powerpoint/2010/main" val="67926057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" name="Google Shape;194;p36"/>
          <p:cNvSpPr txBox="1">
            <a:spLocks noGrp="1"/>
          </p:cNvSpPr>
          <p:nvPr>
            <p:ph type="title"/>
          </p:nvPr>
        </p:nvSpPr>
        <p:spPr>
          <a:xfrm>
            <a:off x="909735" y="273844"/>
            <a:ext cx="7605615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/>
          <a:p>
            <a:pPr>
              <a:buSzPts val="2400"/>
            </a:pPr>
            <a:r>
              <a:rPr lang="pt-BR" sz="2400" dirty="0" smtClean="0"/>
              <a:t>StarCoder – Autocomplete de Código</a:t>
            </a:r>
            <a:endParaRPr sz="2400" dirty="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5" name="Google Shape;195;p36"/>
          <p:cNvSpPr txBox="1">
            <a:spLocks noGrp="1"/>
          </p:cNvSpPr>
          <p:nvPr>
            <p:ph type="body" idx="1"/>
          </p:nvPr>
        </p:nvSpPr>
        <p:spPr>
          <a:xfrm>
            <a:off x="628650" y="1369218"/>
            <a:ext cx="7886700" cy="36368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</a:pPr>
            <a:endParaRPr dirty="0"/>
          </a:p>
          <a:p>
            <a:pPr marL="0" lvl="0" indent="0" algn="l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</a:pPr>
            <a:r>
              <a:rPr lang="pt-BR" dirty="0"/>
              <a:t>  </a:t>
            </a:r>
            <a:endParaRPr dirty="0"/>
          </a:p>
        </p:txBody>
      </p:sp>
      <p:sp>
        <p:nvSpPr>
          <p:cNvPr id="8" name="Rectangle 7"/>
          <p:cNvSpPr/>
          <p:nvPr/>
        </p:nvSpPr>
        <p:spPr>
          <a:xfrm>
            <a:off x="1553443" y="2545444"/>
            <a:ext cx="5262979" cy="70788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000" dirty="0">
                <a:solidFill>
                  <a:srgbClr val="CE9178"/>
                </a:solidFill>
                <a:latin typeface="Consolas" panose="020B0609020204030204" pitchFamily="49" charset="0"/>
              </a:rPr>
              <a:t># write a factorial function in Java</a:t>
            </a:r>
          </a:p>
          <a:p>
            <a:r>
              <a:rPr lang="en-US" sz="2000" dirty="0">
                <a:solidFill>
                  <a:srgbClr val="CE9178"/>
                </a:solidFill>
                <a:latin typeface="Consolas" panose="020B0609020204030204" pitchFamily="49" charset="0"/>
              </a:rPr>
              <a:t>public </a:t>
            </a:r>
            <a:r>
              <a:rPr lang="en-US" sz="2000" dirty="0" err="1">
                <a:solidFill>
                  <a:srgbClr val="CE9178"/>
                </a:solidFill>
                <a:latin typeface="Consolas" panose="020B0609020204030204" pitchFamily="49" charset="0"/>
              </a:rPr>
              <a:t>int</a:t>
            </a:r>
            <a:r>
              <a:rPr lang="en-US" sz="2000" dirty="0">
                <a:solidFill>
                  <a:srgbClr val="CE9178"/>
                </a:solidFill>
                <a:latin typeface="Consolas" panose="020B0609020204030204" pitchFamily="49" charset="0"/>
              </a:rPr>
              <a:t> factorial(</a:t>
            </a:r>
            <a:r>
              <a:rPr lang="en-US" sz="2000" dirty="0" err="1">
                <a:solidFill>
                  <a:srgbClr val="CE9178"/>
                </a:solidFill>
                <a:latin typeface="Consolas" panose="020B0609020204030204" pitchFamily="49" charset="0"/>
              </a:rPr>
              <a:t>int</a:t>
            </a:r>
            <a:r>
              <a:rPr lang="en-US" sz="2000" dirty="0">
                <a:solidFill>
                  <a:srgbClr val="CE9178"/>
                </a:solidFill>
                <a:latin typeface="Consolas" panose="020B0609020204030204" pitchFamily="49" charset="0"/>
              </a:rPr>
              <a:t> n){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21518" y="1435596"/>
            <a:ext cx="8391525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 err="1" smtClean="0"/>
              <a:t>Exemplo</a:t>
            </a:r>
            <a:r>
              <a:rPr lang="en-US" dirty="0" smtClean="0"/>
              <a:t>: </a:t>
            </a:r>
            <a:r>
              <a:rPr lang="en-US" dirty="0" err="1" smtClean="0"/>
              <a:t>escrever</a:t>
            </a:r>
            <a:r>
              <a:rPr lang="en-US" dirty="0" smtClean="0"/>
              <a:t> o </a:t>
            </a:r>
            <a:r>
              <a:rPr lang="en-US" dirty="0" err="1" smtClean="0"/>
              <a:t>corpo</a:t>
            </a:r>
            <a:r>
              <a:rPr lang="en-US" dirty="0" smtClean="0"/>
              <a:t> do </a:t>
            </a:r>
            <a:r>
              <a:rPr lang="en-US" dirty="0" err="1" smtClean="0"/>
              <a:t>método</a:t>
            </a:r>
            <a:r>
              <a:rPr lang="en-US" dirty="0" smtClean="0"/>
              <a:t> factorial() </a:t>
            </a:r>
            <a:r>
              <a:rPr lang="en-US" dirty="0" err="1" smtClean="0"/>
              <a:t>em</a:t>
            </a:r>
            <a:r>
              <a:rPr lang="en-US" dirty="0" smtClean="0"/>
              <a:t> Java</a:t>
            </a:r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185576827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" name="Google Shape;194;p36"/>
          <p:cNvSpPr txBox="1">
            <a:spLocks noGrp="1"/>
          </p:cNvSpPr>
          <p:nvPr>
            <p:ph type="title"/>
          </p:nvPr>
        </p:nvSpPr>
        <p:spPr>
          <a:xfrm>
            <a:off x="909735" y="273844"/>
            <a:ext cx="7605615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/>
          <a:p>
            <a:pPr lvl="0">
              <a:buSzPts val="2400"/>
            </a:pPr>
            <a:r>
              <a:rPr lang="pt-BR" sz="2400" dirty="0"/>
              <a:t>StarCoder – Autocomplete de Código</a:t>
            </a:r>
            <a:endParaRPr sz="2400" dirty="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5" name="Google Shape;195;p36"/>
          <p:cNvSpPr txBox="1">
            <a:spLocks noGrp="1"/>
          </p:cNvSpPr>
          <p:nvPr>
            <p:ph type="body" idx="1"/>
          </p:nvPr>
        </p:nvSpPr>
        <p:spPr>
          <a:xfrm>
            <a:off x="628650" y="1369218"/>
            <a:ext cx="7886700" cy="36368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</a:pPr>
            <a:endParaRPr/>
          </a:p>
          <a:p>
            <a:pPr marL="0" lvl="0" indent="0" algn="l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</a:pPr>
            <a:r>
              <a:rPr lang="pt-BR"/>
              <a:t>  </a:t>
            </a:r>
            <a:endParaRPr/>
          </a:p>
        </p:txBody>
      </p:sp>
      <p:sp>
        <p:nvSpPr>
          <p:cNvPr id="5" name="Google Shape;211;p38"/>
          <p:cNvSpPr txBox="1">
            <a:spLocks/>
          </p:cNvSpPr>
          <p:nvPr/>
        </p:nvSpPr>
        <p:spPr>
          <a:xfrm>
            <a:off x="486943" y="1369218"/>
            <a:ext cx="2942058" cy="377428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7500" algn="l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21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 lang="en-US" dirty="0" smtClean="0"/>
          </a:p>
          <a:p>
            <a:endParaRPr lang="en-US" dirty="0"/>
          </a:p>
          <a:p>
            <a:endParaRPr lang="en-US" dirty="0" smtClean="0"/>
          </a:p>
          <a:p>
            <a:endParaRPr lang="en-US" dirty="0"/>
          </a:p>
          <a:p>
            <a:endParaRPr lang="en-US" dirty="0" smtClean="0"/>
          </a:p>
        </p:txBody>
      </p:sp>
      <p:sp>
        <p:nvSpPr>
          <p:cNvPr id="9" name="Google Shape;211;p38"/>
          <p:cNvSpPr txBox="1">
            <a:spLocks/>
          </p:cNvSpPr>
          <p:nvPr/>
        </p:nvSpPr>
        <p:spPr>
          <a:xfrm>
            <a:off x="182013" y="1441457"/>
            <a:ext cx="2840976" cy="29865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7500" algn="l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21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 lang="en-US" dirty="0" smtClean="0">
              <a:solidFill>
                <a:schemeClr val="bg2"/>
              </a:solidFill>
            </a:endParaRP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504" y="1277915"/>
            <a:ext cx="5913202" cy="3859477"/>
          </a:xfrm>
          <a:prstGeom prst="rect">
            <a:avLst/>
          </a:prstGeom>
        </p:spPr>
      </p:pic>
      <p:pic>
        <p:nvPicPr>
          <p:cNvPr id="3" name="Picture 2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35500" y="2226365"/>
            <a:ext cx="2908500" cy="22991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3142431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" name="Google Shape;194;p36"/>
          <p:cNvSpPr txBox="1">
            <a:spLocks noGrp="1"/>
          </p:cNvSpPr>
          <p:nvPr>
            <p:ph type="title"/>
          </p:nvPr>
        </p:nvSpPr>
        <p:spPr>
          <a:xfrm>
            <a:off x="909735" y="273844"/>
            <a:ext cx="7605615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/>
          <a:p>
            <a:pPr lvl="0">
              <a:buSzPts val="2400"/>
            </a:pPr>
            <a:r>
              <a:rPr lang="pt-BR" sz="2400" dirty="0"/>
              <a:t>StarCoder – Autocomplete de Código</a:t>
            </a:r>
            <a:endParaRPr sz="2400" dirty="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5" name="Google Shape;195;p36"/>
          <p:cNvSpPr txBox="1">
            <a:spLocks noGrp="1"/>
          </p:cNvSpPr>
          <p:nvPr>
            <p:ph type="body" idx="1"/>
          </p:nvPr>
        </p:nvSpPr>
        <p:spPr>
          <a:xfrm>
            <a:off x="628650" y="1369218"/>
            <a:ext cx="7886700" cy="36368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</a:pPr>
            <a:endParaRPr/>
          </a:p>
          <a:p>
            <a:pPr marL="0" lvl="0" indent="0" algn="l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</a:pPr>
            <a:r>
              <a:rPr lang="pt-BR"/>
              <a:t>  </a:t>
            </a:r>
            <a:endParaRPr/>
          </a:p>
        </p:txBody>
      </p:sp>
      <p:sp>
        <p:nvSpPr>
          <p:cNvPr id="5" name="Google Shape;211;p38"/>
          <p:cNvSpPr txBox="1">
            <a:spLocks/>
          </p:cNvSpPr>
          <p:nvPr/>
        </p:nvSpPr>
        <p:spPr>
          <a:xfrm>
            <a:off x="486942" y="1369218"/>
            <a:ext cx="8170116" cy="377428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7500" algn="l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21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 lang="en-US" dirty="0"/>
          </a:p>
          <a:p>
            <a:endParaRPr lang="en-US" dirty="0" smtClean="0"/>
          </a:p>
          <a:p>
            <a:endParaRPr lang="en-US" dirty="0"/>
          </a:p>
          <a:p>
            <a:endParaRPr lang="en-US" dirty="0" smtClean="0"/>
          </a:p>
          <a:p>
            <a:endParaRPr lang="en-US" dirty="0"/>
          </a:p>
          <a:p>
            <a:endParaRPr lang="en-US" dirty="0" smtClean="0"/>
          </a:p>
        </p:txBody>
      </p:sp>
      <p:sp>
        <p:nvSpPr>
          <p:cNvPr id="7" name="Google Shape;211;p38"/>
          <p:cNvSpPr txBox="1">
            <a:spLocks/>
          </p:cNvSpPr>
          <p:nvPr/>
        </p:nvSpPr>
        <p:spPr>
          <a:xfrm>
            <a:off x="639341" y="1521618"/>
            <a:ext cx="5224745" cy="377428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7500" algn="l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21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r>
              <a:rPr lang="pt-BR" dirty="0"/>
              <a:t>Por que o código não ficou perfeito</a:t>
            </a:r>
            <a:r>
              <a:rPr lang="pt-BR" dirty="0" smtClean="0"/>
              <a:t>?</a:t>
            </a:r>
          </a:p>
          <a:p>
            <a:pPr lvl="1"/>
            <a:endParaRPr lang="pt-BR" dirty="0"/>
          </a:p>
          <a:p>
            <a:pPr lvl="1"/>
            <a:r>
              <a:rPr lang="pt-BR" dirty="0"/>
              <a:t>O modelo StarCoder2-3B é relativamente pequeno (</a:t>
            </a:r>
            <a:r>
              <a:rPr lang="pt-BR" dirty="0" smtClean="0"/>
              <a:t>3 Bilhões de </a:t>
            </a:r>
            <a:r>
              <a:rPr lang="pt-BR" dirty="0"/>
              <a:t>parâmetros).</a:t>
            </a:r>
          </a:p>
          <a:p>
            <a:pPr lvl="1"/>
            <a:endParaRPr lang="pt-BR" dirty="0"/>
          </a:p>
          <a:p>
            <a:pPr lvl="1"/>
            <a:r>
              <a:rPr lang="pt-BR" dirty="0"/>
              <a:t>Modelos menores têm menor capacidade de representar padrões complexos.</a:t>
            </a:r>
          </a:p>
          <a:p>
            <a:pPr lvl="1"/>
            <a:endParaRPr lang="pt-BR" dirty="0"/>
          </a:p>
          <a:p>
            <a:pPr lvl="1"/>
            <a:r>
              <a:rPr lang="pt-BR" dirty="0"/>
              <a:t>A geração é probabilística, podendo produzir redundâncias ou variações.</a:t>
            </a:r>
            <a:endParaRPr lang="pt-BR" dirty="0" smtClean="0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16231" y="1934818"/>
            <a:ext cx="2908500" cy="22991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94369034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" name="Google Shape;194;p36"/>
          <p:cNvSpPr txBox="1">
            <a:spLocks noGrp="1"/>
          </p:cNvSpPr>
          <p:nvPr>
            <p:ph type="title"/>
          </p:nvPr>
        </p:nvSpPr>
        <p:spPr>
          <a:xfrm>
            <a:off x="909735" y="273844"/>
            <a:ext cx="7605615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/>
          <a:p>
            <a:pPr lvl="0">
              <a:buSzPts val="2400"/>
            </a:pPr>
            <a:r>
              <a:rPr lang="pt-BR" sz="2400" dirty="0" smtClean="0"/>
              <a:t>StarCoder</a:t>
            </a:r>
            <a:endParaRPr sz="2400" dirty="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5" name="Google Shape;195;p36"/>
          <p:cNvSpPr txBox="1">
            <a:spLocks noGrp="1"/>
          </p:cNvSpPr>
          <p:nvPr>
            <p:ph type="body" idx="1"/>
          </p:nvPr>
        </p:nvSpPr>
        <p:spPr>
          <a:xfrm>
            <a:off x="628650" y="1369218"/>
            <a:ext cx="7886700" cy="36368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</a:pPr>
            <a:endParaRPr/>
          </a:p>
          <a:p>
            <a:pPr marL="0" lvl="0" indent="0" algn="l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</a:pPr>
            <a:r>
              <a:rPr lang="pt-BR"/>
              <a:t>  </a:t>
            </a:r>
            <a:endParaRPr/>
          </a:p>
        </p:txBody>
      </p:sp>
      <p:sp>
        <p:nvSpPr>
          <p:cNvPr id="5" name="Google Shape;211;p38"/>
          <p:cNvSpPr txBox="1">
            <a:spLocks/>
          </p:cNvSpPr>
          <p:nvPr/>
        </p:nvSpPr>
        <p:spPr>
          <a:xfrm>
            <a:off x="486943" y="1369218"/>
            <a:ext cx="2942058" cy="377428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7500" algn="l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21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 lang="en-US" dirty="0" smtClean="0"/>
          </a:p>
          <a:p>
            <a:endParaRPr lang="en-US" dirty="0"/>
          </a:p>
          <a:p>
            <a:endParaRPr lang="en-US" dirty="0" smtClean="0"/>
          </a:p>
          <a:p>
            <a:endParaRPr lang="en-US" dirty="0"/>
          </a:p>
          <a:p>
            <a:endParaRPr lang="en-US" dirty="0" smtClean="0"/>
          </a:p>
        </p:txBody>
      </p:sp>
      <p:sp>
        <p:nvSpPr>
          <p:cNvPr id="9" name="Google Shape;211;p38"/>
          <p:cNvSpPr txBox="1">
            <a:spLocks/>
          </p:cNvSpPr>
          <p:nvPr/>
        </p:nvSpPr>
        <p:spPr>
          <a:xfrm>
            <a:off x="182013" y="1441457"/>
            <a:ext cx="2840976" cy="29865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7500" algn="l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21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 lang="en-US" dirty="0" smtClean="0">
              <a:solidFill>
                <a:schemeClr val="bg2"/>
              </a:solidFill>
            </a:endParaRPr>
          </a:p>
        </p:txBody>
      </p:sp>
      <p:sp>
        <p:nvSpPr>
          <p:cNvPr id="8" name="Google Shape;211;p38"/>
          <p:cNvSpPr txBox="1">
            <a:spLocks/>
          </p:cNvSpPr>
          <p:nvPr/>
        </p:nvSpPr>
        <p:spPr>
          <a:xfrm>
            <a:off x="639341" y="1521618"/>
            <a:ext cx="8017716" cy="377428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7500" algn="l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21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r>
              <a:rPr lang="pt-BR" dirty="0" smtClean="0"/>
              <a:t>E como saber quais outros modelos existem para o StarCoder?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41939" y="2272886"/>
            <a:ext cx="5715798" cy="27340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00066446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" name="Google Shape;194;p36"/>
          <p:cNvSpPr txBox="1">
            <a:spLocks noGrp="1"/>
          </p:cNvSpPr>
          <p:nvPr>
            <p:ph type="title"/>
          </p:nvPr>
        </p:nvSpPr>
        <p:spPr>
          <a:xfrm>
            <a:off x="909735" y="273844"/>
            <a:ext cx="7605615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/>
          <a:p>
            <a:pPr lvl="0">
              <a:buSzPts val="2400"/>
            </a:pPr>
            <a:r>
              <a:rPr lang="pt-BR" sz="2400" dirty="0" smtClean="0"/>
              <a:t>Site Hugging Face</a:t>
            </a:r>
            <a:endParaRPr sz="2400" dirty="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5" name="Google Shape;195;p36"/>
          <p:cNvSpPr txBox="1">
            <a:spLocks noGrp="1"/>
          </p:cNvSpPr>
          <p:nvPr>
            <p:ph type="body" idx="1"/>
          </p:nvPr>
        </p:nvSpPr>
        <p:spPr>
          <a:xfrm>
            <a:off x="628650" y="1369218"/>
            <a:ext cx="7886700" cy="36368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</a:pPr>
            <a:endParaRPr/>
          </a:p>
          <a:p>
            <a:pPr marL="0" lvl="0" indent="0" algn="l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</a:pPr>
            <a:r>
              <a:rPr lang="pt-BR"/>
              <a:t>  </a:t>
            </a:r>
            <a:endParaRPr/>
          </a:p>
        </p:txBody>
      </p:sp>
      <p:sp>
        <p:nvSpPr>
          <p:cNvPr id="5" name="Google Shape;211;p38"/>
          <p:cNvSpPr txBox="1">
            <a:spLocks/>
          </p:cNvSpPr>
          <p:nvPr/>
        </p:nvSpPr>
        <p:spPr>
          <a:xfrm>
            <a:off x="486942" y="1369218"/>
            <a:ext cx="8170116" cy="377428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7500" algn="l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21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r>
              <a:rPr lang="pt-BR" dirty="0"/>
              <a:t>Hugging Face é uma plataforma que hospeda e compartilha modelos de Inteligência Artificial pré-treinados</a:t>
            </a:r>
            <a:r>
              <a:rPr lang="pt-BR" dirty="0" smtClean="0"/>
              <a:t>.</a:t>
            </a:r>
            <a:endParaRPr lang="pt-BR" dirty="0"/>
          </a:p>
          <a:p>
            <a:pPr lvl="1"/>
            <a:r>
              <a:rPr lang="pt-BR" dirty="0"/>
              <a:t>Possui milhares de modelos de IA </a:t>
            </a:r>
            <a:r>
              <a:rPr lang="pt-BR" dirty="0" smtClean="0"/>
              <a:t>disponíveis</a:t>
            </a:r>
            <a:endParaRPr lang="pt-BR" dirty="0"/>
          </a:p>
          <a:p>
            <a:pPr lvl="1"/>
            <a:r>
              <a:rPr lang="pt-BR" dirty="0"/>
              <a:t>Permite baixar e utilizar modelos diretamente em </a:t>
            </a:r>
            <a:r>
              <a:rPr lang="pt-BR" dirty="0" smtClean="0"/>
              <a:t>aplicações</a:t>
            </a:r>
            <a:endParaRPr lang="pt-BR" dirty="0"/>
          </a:p>
          <a:p>
            <a:pPr lvl="1"/>
            <a:r>
              <a:rPr lang="pt-BR" dirty="0"/>
              <a:t>Facilita o compartilhamento e reutilização de </a:t>
            </a:r>
            <a:r>
              <a:rPr lang="pt-BR" dirty="0" smtClean="0"/>
              <a:t>modelos</a:t>
            </a:r>
            <a:endParaRPr lang="pt-BR" dirty="0"/>
          </a:p>
          <a:p>
            <a:pPr lvl="1"/>
            <a:r>
              <a:rPr lang="pt-BR" dirty="0" smtClean="0"/>
              <a:t>Pode </a:t>
            </a:r>
            <a:r>
              <a:rPr lang="pt-BR" dirty="0"/>
              <a:t>ser visto como uma espécie de “GitHub de modelos de IA”.</a:t>
            </a:r>
          </a:p>
          <a:p>
            <a:endParaRPr lang="pt-BR" dirty="0"/>
          </a:p>
          <a:p>
            <a:pPr lvl="1"/>
            <a:r>
              <a:rPr lang="pt-BR" dirty="0" smtClean="0"/>
              <a:t>https</a:t>
            </a:r>
            <a:r>
              <a:rPr lang="pt-BR" dirty="0"/>
              <a:t>://huggingface.co/</a:t>
            </a: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97653" y="273844"/>
            <a:ext cx="2337471" cy="7883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29682107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" name="Google Shape;194;p36"/>
          <p:cNvSpPr txBox="1">
            <a:spLocks noGrp="1"/>
          </p:cNvSpPr>
          <p:nvPr>
            <p:ph type="title"/>
          </p:nvPr>
        </p:nvSpPr>
        <p:spPr>
          <a:xfrm>
            <a:off x="909735" y="273844"/>
            <a:ext cx="7605615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/>
          <a:p>
            <a:pPr lvl="0">
              <a:buSzPts val="2400"/>
            </a:pPr>
            <a:r>
              <a:rPr lang="pt-BR" sz="2400" dirty="0" smtClean="0"/>
              <a:t>Qwen - Refactoring</a:t>
            </a:r>
            <a:endParaRPr sz="2400" dirty="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5" name="Google Shape;195;p36"/>
          <p:cNvSpPr txBox="1">
            <a:spLocks noGrp="1"/>
          </p:cNvSpPr>
          <p:nvPr>
            <p:ph type="body" idx="1"/>
          </p:nvPr>
        </p:nvSpPr>
        <p:spPr>
          <a:xfrm>
            <a:off x="628650" y="1369218"/>
            <a:ext cx="7886700" cy="36368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</a:pPr>
            <a:endParaRPr dirty="0"/>
          </a:p>
          <a:p>
            <a:pPr marL="0" lvl="0" indent="0" algn="l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</a:pPr>
            <a:r>
              <a:rPr lang="pt-BR" dirty="0" smtClean="0"/>
              <a:t>  </a:t>
            </a:r>
            <a:endParaRPr dirty="0"/>
          </a:p>
        </p:txBody>
      </p:sp>
      <p:sp>
        <p:nvSpPr>
          <p:cNvPr id="3" name="Rectangle 2"/>
          <p:cNvSpPr/>
          <p:nvPr/>
        </p:nvSpPr>
        <p:spPr>
          <a:xfrm>
            <a:off x="2940762" y="2395003"/>
            <a:ext cx="4572000" cy="2462213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dirty="0" smtClean="0">
                <a:solidFill>
                  <a:srgbClr val="CE9178"/>
                </a:solidFill>
                <a:latin typeface="Consolas" panose="020B0609020204030204" pitchFamily="49" charset="0"/>
              </a:rPr>
              <a:t>public </a:t>
            </a:r>
            <a:r>
              <a:rPr lang="en-US" dirty="0" err="1" smtClean="0">
                <a:solidFill>
                  <a:srgbClr val="CE9178"/>
                </a:solidFill>
                <a:latin typeface="Consolas" panose="020B0609020204030204" pitchFamily="49" charset="0"/>
              </a:rPr>
              <a:t>int</a:t>
            </a:r>
            <a:r>
              <a:rPr lang="en-US" dirty="0" smtClean="0">
                <a:solidFill>
                  <a:srgbClr val="CE9178"/>
                </a:solidFill>
                <a:latin typeface="Consolas" panose="020B0609020204030204" pitchFamily="49" charset="0"/>
              </a:rPr>
              <a:t> </a:t>
            </a:r>
            <a:r>
              <a:rPr lang="en-US" dirty="0" err="1" smtClean="0">
                <a:solidFill>
                  <a:srgbClr val="CE9178"/>
                </a:solidFill>
                <a:latin typeface="Consolas" panose="020B0609020204030204" pitchFamily="49" charset="0"/>
              </a:rPr>
              <a:t>calc</a:t>
            </a:r>
            <a:r>
              <a:rPr lang="en-US" dirty="0" smtClean="0">
                <a:solidFill>
                  <a:srgbClr val="CE9178"/>
                </a:solidFill>
                <a:latin typeface="Consolas" panose="020B0609020204030204" pitchFamily="49" charset="0"/>
              </a:rPr>
              <a:t>(</a:t>
            </a:r>
            <a:r>
              <a:rPr lang="en-US" dirty="0" err="1" smtClean="0">
                <a:solidFill>
                  <a:srgbClr val="CE9178"/>
                </a:solidFill>
                <a:latin typeface="Consolas" panose="020B0609020204030204" pitchFamily="49" charset="0"/>
              </a:rPr>
              <a:t>int</a:t>
            </a:r>
            <a:r>
              <a:rPr lang="en-US" dirty="0" smtClean="0">
                <a:solidFill>
                  <a:srgbClr val="CE9178"/>
                </a:solidFill>
                <a:latin typeface="Consolas" panose="020B0609020204030204" pitchFamily="49" charset="0"/>
              </a:rPr>
              <a:t> </a:t>
            </a:r>
            <a:r>
              <a:rPr lang="en-US" dirty="0" err="1" smtClean="0">
                <a:solidFill>
                  <a:srgbClr val="CE9178"/>
                </a:solidFill>
                <a:latin typeface="Consolas" panose="020B0609020204030204" pitchFamily="49" charset="0"/>
              </a:rPr>
              <a:t>a,int</a:t>
            </a:r>
            <a:r>
              <a:rPr lang="en-US" dirty="0" smtClean="0">
                <a:solidFill>
                  <a:srgbClr val="CE9178"/>
                </a:solidFill>
                <a:latin typeface="Consolas" panose="020B0609020204030204" pitchFamily="49" charset="0"/>
              </a:rPr>
              <a:t> </a:t>
            </a:r>
            <a:r>
              <a:rPr lang="en-US" dirty="0" err="1" smtClean="0">
                <a:solidFill>
                  <a:srgbClr val="CE9178"/>
                </a:solidFill>
                <a:latin typeface="Consolas" panose="020B0609020204030204" pitchFamily="49" charset="0"/>
              </a:rPr>
              <a:t>b,int</a:t>
            </a:r>
            <a:r>
              <a:rPr lang="en-US" dirty="0" smtClean="0">
                <a:solidFill>
                  <a:srgbClr val="CE9178"/>
                </a:solidFill>
                <a:latin typeface="Consolas" panose="020B0609020204030204" pitchFamily="49" charset="0"/>
              </a:rPr>
              <a:t> c){</a:t>
            </a:r>
            <a:endParaRPr lang="en-US" dirty="0" smtClean="0">
              <a:solidFill>
                <a:srgbClr val="CCCCCC"/>
              </a:solidFill>
              <a:latin typeface="Consolas" panose="020B0609020204030204" pitchFamily="49" charset="0"/>
            </a:endParaRPr>
          </a:p>
          <a:p>
            <a:r>
              <a:rPr lang="en-US" dirty="0" smtClean="0">
                <a:solidFill>
                  <a:srgbClr val="CE9178"/>
                </a:solidFill>
                <a:latin typeface="Consolas" panose="020B0609020204030204" pitchFamily="49" charset="0"/>
              </a:rPr>
              <a:t>    if(a&gt;0){</a:t>
            </a:r>
            <a:endParaRPr lang="en-US" dirty="0" smtClean="0">
              <a:solidFill>
                <a:srgbClr val="CCCCCC"/>
              </a:solidFill>
              <a:latin typeface="Consolas" panose="020B0609020204030204" pitchFamily="49" charset="0"/>
            </a:endParaRPr>
          </a:p>
          <a:p>
            <a:r>
              <a:rPr lang="en-US" dirty="0" smtClean="0">
                <a:solidFill>
                  <a:srgbClr val="CE9178"/>
                </a:solidFill>
                <a:latin typeface="Consolas" panose="020B0609020204030204" pitchFamily="49" charset="0"/>
              </a:rPr>
              <a:t>        if(b&gt;0){</a:t>
            </a:r>
            <a:endParaRPr lang="en-US" dirty="0" smtClean="0">
              <a:solidFill>
                <a:srgbClr val="CCCCCC"/>
              </a:solidFill>
              <a:latin typeface="Consolas" panose="020B0609020204030204" pitchFamily="49" charset="0"/>
            </a:endParaRPr>
          </a:p>
          <a:p>
            <a:r>
              <a:rPr lang="en-US" dirty="0" smtClean="0">
                <a:solidFill>
                  <a:srgbClr val="CE9178"/>
                </a:solidFill>
                <a:latin typeface="Consolas" panose="020B0609020204030204" pitchFamily="49" charset="0"/>
              </a:rPr>
              <a:t>            return </a:t>
            </a:r>
            <a:r>
              <a:rPr lang="en-US" dirty="0" err="1" smtClean="0">
                <a:solidFill>
                  <a:srgbClr val="CE9178"/>
                </a:solidFill>
                <a:latin typeface="Consolas" panose="020B0609020204030204" pitchFamily="49" charset="0"/>
              </a:rPr>
              <a:t>a+b+c</a:t>
            </a:r>
            <a:r>
              <a:rPr lang="en-US" dirty="0" smtClean="0">
                <a:solidFill>
                  <a:srgbClr val="CE9178"/>
                </a:solidFill>
                <a:latin typeface="Consolas" panose="020B0609020204030204" pitchFamily="49" charset="0"/>
              </a:rPr>
              <a:t>;</a:t>
            </a:r>
            <a:endParaRPr lang="en-US" dirty="0" smtClean="0">
              <a:solidFill>
                <a:srgbClr val="CCCCCC"/>
              </a:solidFill>
              <a:latin typeface="Consolas" panose="020B0609020204030204" pitchFamily="49" charset="0"/>
            </a:endParaRPr>
          </a:p>
          <a:p>
            <a:r>
              <a:rPr lang="en-US" dirty="0" smtClean="0">
                <a:solidFill>
                  <a:srgbClr val="CE9178"/>
                </a:solidFill>
                <a:latin typeface="Consolas" panose="020B0609020204030204" pitchFamily="49" charset="0"/>
              </a:rPr>
              <a:t>        }else{</a:t>
            </a:r>
            <a:endParaRPr lang="en-US" dirty="0" smtClean="0">
              <a:solidFill>
                <a:srgbClr val="CCCCCC"/>
              </a:solidFill>
              <a:latin typeface="Consolas" panose="020B0609020204030204" pitchFamily="49" charset="0"/>
            </a:endParaRPr>
          </a:p>
          <a:p>
            <a:r>
              <a:rPr lang="en-US" dirty="0" smtClean="0">
                <a:solidFill>
                  <a:srgbClr val="CE9178"/>
                </a:solidFill>
                <a:latin typeface="Consolas" panose="020B0609020204030204" pitchFamily="49" charset="0"/>
              </a:rPr>
              <a:t>            return </a:t>
            </a:r>
            <a:r>
              <a:rPr lang="en-US" dirty="0" err="1" smtClean="0">
                <a:solidFill>
                  <a:srgbClr val="CE9178"/>
                </a:solidFill>
                <a:latin typeface="Consolas" panose="020B0609020204030204" pitchFamily="49" charset="0"/>
              </a:rPr>
              <a:t>a+c</a:t>
            </a:r>
            <a:r>
              <a:rPr lang="en-US" dirty="0" smtClean="0">
                <a:solidFill>
                  <a:srgbClr val="CE9178"/>
                </a:solidFill>
                <a:latin typeface="Consolas" panose="020B0609020204030204" pitchFamily="49" charset="0"/>
              </a:rPr>
              <a:t>;</a:t>
            </a:r>
            <a:endParaRPr lang="en-US" dirty="0" smtClean="0">
              <a:solidFill>
                <a:srgbClr val="CCCCCC"/>
              </a:solidFill>
              <a:latin typeface="Consolas" panose="020B0609020204030204" pitchFamily="49" charset="0"/>
            </a:endParaRPr>
          </a:p>
          <a:p>
            <a:r>
              <a:rPr lang="en-US" dirty="0" smtClean="0">
                <a:solidFill>
                  <a:srgbClr val="CE9178"/>
                </a:solidFill>
                <a:latin typeface="Consolas" panose="020B0609020204030204" pitchFamily="49" charset="0"/>
              </a:rPr>
              <a:t>        }</a:t>
            </a:r>
            <a:endParaRPr lang="en-US" dirty="0" smtClean="0">
              <a:solidFill>
                <a:srgbClr val="CCCCCC"/>
              </a:solidFill>
              <a:latin typeface="Consolas" panose="020B0609020204030204" pitchFamily="49" charset="0"/>
            </a:endParaRPr>
          </a:p>
          <a:p>
            <a:r>
              <a:rPr lang="en-US" dirty="0" smtClean="0">
                <a:solidFill>
                  <a:srgbClr val="CE9178"/>
                </a:solidFill>
                <a:latin typeface="Consolas" panose="020B0609020204030204" pitchFamily="49" charset="0"/>
              </a:rPr>
              <a:t>    }else{</a:t>
            </a:r>
            <a:endParaRPr lang="en-US" dirty="0" smtClean="0">
              <a:solidFill>
                <a:srgbClr val="CCCCCC"/>
              </a:solidFill>
              <a:latin typeface="Consolas" panose="020B0609020204030204" pitchFamily="49" charset="0"/>
            </a:endParaRPr>
          </a:p>
          <a:p>
            <a:r>
              <a:rPr lang="en-US" dirty="0" smtClean="0">
                <a:solidFill>
                  <a:srgbClr val="CE9178"/>
                </a:solidFill>
                <a:latin typeface="Consolas" panose="020B0609020204030204" pitchFamily="49" charset="0"/>
              </a:rPr>
              <a:t>        return c;</a:t>
            </a:r>
            <a:endParaRPr lang="en-US" dirty="0" smtClean="0">
              <a:solidFill>
                <a:srgbClr val="CCCCCC"/>
              </a:solidFill>
              <a:latin typeface="Consolas" panose="020B0609020204030204" pitchFamily="49" charset="0"/>
            </a:endParaRPr>
          </a:p>
          <a:p>
            <a:r>
              <a:rPr lang="en-US" dirty="0" smtClean="0">
                <a:solidFill>
                  <a:srgbClr val="CE9178"/>
                </a:solidFill>
                <a:latin typeface="Consolas" panose="020B0609020204030204" pitchFamily="49" charset="0"/>
              </a:rPr>
              <a:t>    }</a:t>
            </a:r>
            <a:endParaRPr lang="en-US" dirty="0" smtClean="0">
              <a:solidFill>
                <a:srgbClr val="CCCCCC"/>
              </a:solidFill>
              <a:latin typeface="Consolas" panose="020B0609020204030204" pitchFamily="49" charset="0"/>
            </a:endParaRPr>
          </a:p>
          <a:p>
            <a:r>
              <a:rPr lang="en-US" dirty="0" smtClean="0">
                <a:solidFill>
                  <a:srgbClr val="CE9178"/>
                </a:solidFill>
                <a:latin typeface="Consolas" panose="020B0609020204030204" pitchFamily="49" charset="0"/>
              </a:rPr>
              <a:t>}</a:t>
            </a:r>
            <a:endParaRPr lang="en-US" dirty="0">
              <a:solidFill>
                <a:srgbClr val="CCCCCC"/>
              </a:solidFill>
              <a:latin typeface="Consolas" panose="020B0609020204030204" pitchFamily="49" charset="0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989044" y="1559572"/>
            <a:ext cx="6732037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 err="1" smtClean="0"/>
              <a:t>Refatorar</a:t>
            </a:r>
            <a:r>
              <a:rPr lang="en-US" dirty="0" smtClean="0"/>
              <a:t> para </a:t>
            </a:r>
            <a:r>
              <a:rPr lang="en-US" dirty="0" err="1" smtClean="0"/>
              <a:t>melhorar</a:t>
            </a:r>
            <a:r>
              <a:rPr lang="en-US" dirty="0" smtClean="0"/>
              <a:t> a </a:t>
            </a:r>
            <a:r>
              <a:rPr lang="en-US" dirty="0" err="1" smtClean="0"/>
              <a:t>legibilidade</a:t>
            </a:r>
            <a:r>
              <a:rPr lang="en-US" dirty="0" smtClean="0"/>
              <a:t> do </a:t>
            </a:r>
            <a:r>
              <a:rPr lang="en-US" dirty="0" err="1" smtClean="0"/>
              <a:t>código</a:t>
            </a:r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2028373155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" name="Google Shape;194;p36"/>
          <p:cNvSpPr txBox="1">
            <a:spLocks noGrp="1"/>
          </p:cNvSpPr>
          <p:nvPr>
            <p:ph type="title"/>
          </p:nvPr>
        </p:nvSpPr>
        <p:spPr>
          <a:xfrm>
            <a:off x="909735" y="273844"/>
            <a:ext cx="7605615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/>
          <a:p>
            <a:pPr lvl="0">
              <a:buSzPts val="2400"/>
            </a:pPr>
            <a:r>
              <a:rPr lang="pt-BR" sz="2400" dirty="0" smtClean="0"/>
              <a:t>Qwen - Refactoring</a:t>
            </a:r>
            <a:endParaRPr sz="2400" dirty="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5" name="Google Shape;195;p36"/>
          <p:cNvSpPr txBox="1">
            <a:spLocks noGrp="1"/>
          </p:cNvSpPr>
          <p:nvPr>
            <p:ph type="body" idx="1"/>
          </p:nvPr>
        </p:nvSpPr>
        <p:spPr>
          <a:xfrm>
            <a:off x="628650" y="1369218"/>
            <a:ext cx="7886700" cy="36368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</a:pPr>
            <a:endParaRPr/>
          </a:p>
          <a:p>
            <a:pPr marL="0" lvl="0" indent="0" algn="l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</a:pPr>
            <a:r>
              <a:rPr lang="pt-BR"/>
              <a:t>  </a:t>
            </a:r>
            <a:endParaRPr/>
          </a:p>
        </p:txBody>
      </p:sp>
      <p:sp>
        <p:nvSpPr>
          <p:cNvPr id="5" name="Google Shape;211;p38"/>
          <p:cNvSpPr txBox="1">
            <a:spLocks/>
          </p:cNvSpPr>
          <p:nvPr/>
        </p:nvSpPr>
        <p:spPr>
          <a:xfrm>
            <a:off x="486943" y="1369218"/>
            <a:ext cx="2942058" cy="377428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7500" algn="l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21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 lang="en-US" dirty="0" smtClean="0"/>
          </a:p>
          <a:p>
            <a:endParaRPr lang="en-US" dirty="0"/>
          </a:p>
          <a:p>
            <a:endParaRPr lang="en-US" dirty="0" smtClean="0"/>
          </a:p>
          <a:p>
            <a:endParaRPr lang="en-US" dirty="0"/>
          </a:p>
          <a:p>
            <a:endParaRPr lang="en-US" dirty="0" smtClean="0"/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3188" y="1329222"/>
            <a:ext cx="3946849" cy="3814277"/>
          </a:xfrm>
          <a:prstGeom prst="rect">
            <a:avLst/>
          </a:prstGeom>
        </p:spPr>
      </p:pic>
      <p:pic>
        <p:nvPicPr>
          <p:cNvPr id="3" name="Picture 2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25343" y="1488642"/>
            <a:ext cx="3282146" cy="2262019"/>
          </a:xfrm>
          <a:prstGeom prst="rect">
            <a:avLst/>
          </a:prstGeom>
        </p:spPr>
      </p:pic>
      <p:cxnSp>
        <p:nvCxnSpPr>
          <p:cNvPr id="6" name="Straight Arrow Connector 5"/>
          <p:cNvCxnSpPr/>
          <p:nvPr/>
        </p:nvCxnSpPr>
        <p:spPr>
          <a:xfrm>
            <a:off x="4128796" y="2677886"/>
            <a:ext cx="1021702" cy="466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Oval 6"/>
          <p:cNvSpPr/>
          <p:nvPr/>
        </p:nvSpPr>
        <p:spPr>
          <a:xfrm>
            <a:off x="5649686" y="4254759"/>
            <a:ext cx="3032449" cy="811763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 smtClean="0"/>
              <a:t> O modelo colocou comentários no código</a:t>
            </a:r>
            <a:endParaRPr lang="pt-BR" dirty="0"/>
          </a:p>
        </p:txBody>
      </p:sp>
      <p:cxnSp>
        <p:nvCxnSpPr>
          <p:cNvPr id="10" name="Straight Arrow Connector 9"/>
          <p:cNvCxnSpPr>
            <a:stCxn id="7" idx="0"/>
          </p:cNvCxnSpPr>
          <p:nvPr/>
        </p:nvCxnSpPr>
        <p:spPr>
          <a:xfrm flipH="1" flipV="1">
            <a:off x="7095931" y="3811555"/>
            <a:ext cx="69980" cy="44320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303682508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" name="Google Shape;194;p36"/>
          <p:cNvSpPr txBox="1">
            <a:spLocks noGrp="1"/>
          </p:cNvSpPr>
          <p:nvPr>
            <p:ph type="title"/>
          </p:nvPr>
        </p:nvSpPr>
        <p:spPr>
          <a:xfrm>
            <a:off x="909735" y="273844"/>
            <a:ext cx="7605615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/>
          <a:p>
            <a:pPr lvl="0">
              <a:buSzPts val="2400"/>
            </a:pPr>
            <a:r>
              <a:rPr lang="pt-BR" sz="2400" dirty="0" smtClean="0"/>
              <a:t>Code Llama – Geração de Código</a:t>
            </a:r>
            <a:endParaRPr sz="2400" dirty="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5" name="Google Shape;195;p36"/>
          <p:cNvSpPr txBox="1">
            <a:spLocks noGrp="1"/>
          </p:cNvSpPr>
          <p:nvPr>
            <p:ph type="body" idx="1"/>
          </p:nvPr>
        </p:nvSpPr>
        <p:spPr>
          <a:xfrm>
            <a:off x="628650" y="1369218"/>
            <a:ext cx="7886700" cy="36368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</a:pPr>
            <a:endParaRPr/>
          </a:p>
          <a:p>
            <a:pPr marL="0" lvl="0" indent="0" algn="l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</a:pPr>
            <a:r>
              <a:rPr lang="pt-BR"/>
              <a:t>  </a:t>
            </a:r>
            <a:endParaRPr/>
          </a:p>
        </p:txBody>
      </p:sp>
      <p:sp>
        <p:nvSpPr>
          <p:cNvPr id="5" name="Google Shape;211;p38"/>
          <p:cNvSpPr txBox="1">
            <a:spLocks/>
          </p:cNvSpPr>
          <p:nvPr/>
        </p:nvSpPr>
        <p:spPr>
          <a:xfrm>
            <a:off x="486943" y="1369218"/>
            <a:ext cx="2942058" cy="377428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7500" algn="l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21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 lang="en-US" dirty="0" smtClean="0"/>
          </a:p>
          <a:p>
            <a:endParaRPr lang="en-US" dirty="0"/>
          </a:p>
          <a:p>
            <a:endParaRPr lang="en-US" dirty="0" smtClean="0"/>
          </a:p>
          <a:p>
            <a:endParaRPr lang="en-US" dirty="0"/>
          </a:p>
          <a:p>
            <a:endParaRPr lang="en-US" dirty="0" smtClean="0"/>
          </a:p>
        </p:txBody>
      </p:sp>
      <p:sp>
        <p:nvSpPr>
          <p:cNvPr id="9" name="Google Shape;211;p38"/>
          <p:cNvSpPr txBox="1">
            <a:spLocks/>
          </p:cNvSpPr>
          <p:nvPr/>
        </p:nvSpPr>
        <p:spPr>
          <a:xfrm>
            <a:off x="182013" y="1441457"/>
            <a:ext cx="2840976" cy="29865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7500" algn="l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21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 lang="en-US" dirty="0" smtClean="0">
              <a:solidFill>
                <a:schemeClr val="bg2"/>
              </a:solidFill>
            </a:endParaRPr>
          </a:p>
          <a:p>
            <a:endParaRPr lang="en-US" dirty="0">
              <a:solidFill>
                <a:schemeClr val="bg2"/>
              </a:solidFill>
            </a:endParaRPr>
          </a:p>
          <a:p>
            <a:endParaRPr lang="en-US" dirty="0" smtClean="0">
              <a:solidFill>
                <a:schemeClr val="bg2"/>
              </a:solidFill>
            </a:endParaRPr>
          </a:p>
          <a:p>
            <a:endParaRPr lang="en-US" dirty="0">
              <a:solidFill>
                <a:schemeClr val="bg2"/>
              </a:solidFill>
            </a:endParaRPr>
          </a:p>
          <a:p>
            <a:endParaRPr lang="en-US" dirty="0" smtClean="0">
              <a:solidFill>
                <a:schemeClr val="bg2"/>
              </a:solidFill>
            </a:endParaRPr>
          </a:p>
        </p:txBody>
      </p:sp>
      <p:pic>
        <p:nvPicPr>
          <p:cNvPr id="10" name="Picture 9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69638" y="1513138"/>
            <a:ext cx="5985641" cy="31292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72106177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" name="Google Shape;194;p36"/>
          <p:cNvSpPr txBox="1">
            <a:spLocks noGrp="1"/>
          </p:cNvSpPr>
          <p:nvPr>
            <p:ph type="title"/>
          </p:nvPr>
        </p:nvSpPr>
        <p:spPr>
          <a:xfrm>
            <a:off x="909735" y="273844"/>
            <a:ext cx="7605615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/>
          <a:p>
            <a:pPr lvl="0">
              <a:buSzPts val="2400"/>
            </a:pPr>
            <a:r>
              <a:rPr lang="pt-BR" sz="2400" dirty="0" smtClean="0"/>
              <a:t>Code Llama – Geração de Código</a:t>
            </a:r>
            <a:endParaRPr sz="2400" dirty="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5" name="Google Shape;195;p36"/>
          <p:cNvSpPr txBox="1">
            <a:spLocks noGrp="1"/>
          </p:cNvSpPr>
          <p:nvPr>
            <p:ph type="body" idx="1"/>
          </p:nvPr>
        </p:nvSpPr>
        <p:spPr>
          <a:xfrm>
            <a:off x="628650" y="1369218"/>
            <a:ext cx="7886700" cy="36368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</a:pPr>
            <a:endParaRPr/>
          </a:p>
          <a:p>
            <a:pPr marL="0" lvl="0" indent="0" algn="l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</a:pPr>
            <a:r>
              <a:rPr lang="pt-BR"/>
              <a:t>  </a:t>
            </a:r>
            <a:endParaRPr/>
          </a:p>
        </p:txBody>
      </p:sp>
      <p:sp>
        <p:nvSpPr>
          <p:cNvPr id="5" name="Google Shape;211;p38"/>
          <p:cNvSpPr txBox="1">
            <a:spLocks/>
          </p:cNvSpPr>
          <p:nvPr/>
        </p:nvSpPr>
        <p:spPr>
          <a:xfrm>
            <a:off x="486943" y="1369218"/>
            <a:ext cx="2942058" cy="377428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7500" algn="l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21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 lang="en-US" dirty="0" smtClean="0"/>
          </a:p>
          <a:p>
            <a:endParaRPr lang="en-US" dirty="0"/>
          </a:p>
          <a:p>
            <a:endParaRPr lang="en-US" dirty="0" smtClean="0"/>
          </a:p>
          <a:p>
            <a:endParaRPr lang="en-US" dirty="0"/>
          </a:p>
          <a:p>
            <a:endParaRPr lang="en-US" dirty="0" smtClean="0"/>
          </a:p>
        </p:txBody>
      </p:sp>
      <p:sp>
        <p:nvSpPr>
          <p:cNvPr id="9" name="Google Shape;211;p38"/>
          <p:cNvSpPr txBox="1">
            <a:spLocks/>
          </p:cNvSpPr>
          <p:nvPr/>
        </p:nvSpPr>
        <p:spPr>
          <a:xfrm>
            <a:off x="182013" y="1441457"/>
            <a:ext cx="2840976" cy="29865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7500" algn="l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21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 lang="en-US" dirty="0" smtClean="0">
              <a:solidFill>
                <a:schemeClr val="bg2"/>
              </a:solidFill>
            </a:endParaRPr>
          </a:p>
          <a:p>
            <a:endParaRPr lang="en-US" dirty="0">
              <a:solidFill>
                <a:schemeClr val="bg2"/>
              </a:solidFill>
            </a:endParaRPr>
          </a:p>
          <a:p>
            <a:endParaRPr lang="en-US" dirty="0" smtClean="0">
              <a:solidFill>
                <a:schemeClr val="bg2"/>
              </a:solidFill>
            </a:endParaRPr>
          </a:p>
          <a:p>
            <a:endParaRPr lang="en-US" dirty="0">
              <a:solidFill>
                <a:schemeClr val="bg2"/>
              </a:solidFill>
            </a:endParaRPr>
          </a:p>
          <a:p>
            <a:endParaRPr lang="en-US" dirty="0" smtClean="0">
              <a:solidFill>
                <a:schemeClr val="bg2"/>
              </a:solidFill>
            </a:endParaRPr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4447" y="1706746"/>
            <a:ext cx="4438162" cy="3180162"/>
          </a:xfrm>
          <a:prstGeom prst="rect">
            <a:avLst/>
          </a:prstGeom>
        </p:spPr>
      </p:pic>
      <p:pic>
        <p:nvPicPr>
          <p:cNvPr id="2050" name="Picture 2" descr="Ih Rapaz Fred GIF - Ih Rapaz Fred Irapaz - Discover &amp; Share GIFs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409876" y="2454563"/>
            <a:ext cx="3105474" cy="174683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818844832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" name="Google Shape;194;p36"/>
          <p:cNvSpPr txBox="1">
            <a:spLocks noGrp="1"/>
          </p:cNvSpPr>
          <p:nvPr>
            <p:ph type="title"/>
          </p:nvPr>
        </p:nvSpPr>
        <p:spPr>
          <a:xfrm>
            <a:off x="909735" y="273844"/>
            <a:ext cx="7605615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/>
          <a:p>
            <a:pPr lvl="0">
              <a:buSzPts val="2400"/>
            </a:pPr>
            <a:r>
              <a:rPr lang="pt-BR" sz="2400" dirty="0" smtClean="0"/>
              <a:t>Alternativas?</a:t>
            </a:r>
            <a:endParaRPr sz="2400" dirty="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5" name="Google Shape;195;p36"/>
          <p:cNvSpPr txBox="1">
            <a:spLocks noGrp="1"/>
          </p:cNvSpPr>
          <p:nvPr>
            <p:ph type="body" idx="1"/>
          </p:nvPr>
        </p:nvSpPr>
        <p:spPr>
          <a:xfrm>
            <a:off x="628650" y="1369218"/>
            <a:ext cx="7886700" cy="36368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</a:pPr>
            <a:endParaRPr/>
          </a:p>
          <a:p>
            <a:pPr marL="0" lvl="0" indent="0" algn="l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</a:pPr>
            <a:r>
              <a:rPr lang="pt-BR"/>
              <a:t>  </a:t>
            </a:r>
            <a:endParaRPr/>
          </a:p>
        </p:txBody>
      </p:sp>
      <p:sp>
        <p:nvSpPr>
          <p:cNvPr id="5" name="Google Shape;211;p38"/>
          <p:cNvSpPr txBox="1">
            <a:spLocks/>
          </p:cNvSpPr>
          <p:nvPr/>
        </p:nvSpPr>
        <p:spPr>
          <a:xfrm>
            <a:off x="486943" y="1369218"/>
            <a:ext cx="2942058" cy="377428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7500" algn="l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21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 lang="en-US" dirty="0" smtClean="0"/>
          </a:p>
          <a:p>
            <a:endParaRPr lang="en-US" dirty="0"/>
          </a:p>
          <a:p>
            <a:endParaRPr lang="en-US" dirty="0" smtClean="0"/>
          </a:p>
          <a:p>
            <a:endParaRPr lang="en-US" dirty="0"/>
          </a:p>
          <a:p>
            <a:endParaRPr lang="en-US" dirty="0" smtClean="0"/>
          </a:p>
        </p:txBody>
      </p:sp>
      <p:sp>
        <p:nvSpPr>
          <p:cNvPr id="9" name="Google Shape;211;p38"/>
          <p:cNvSpPr txBox="1">
            <a:spLocks/>
          </p:cNvSpPr>
          <p:nvPr/>
        </p:nvSpPr>
        <p:spPr>
          <a:xfrm>
            <a:off x="182012" y="1441457"/>
            <a:ext cx="6834607" cy="29865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7500" algn="l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21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r>
              <a:rPr lang="en-US" dirty="0" smtClean="0">
                <a:solidFill>
                  <a:schemeClr val="tx1"/>
                </a:solidFill>
              </a:rPr>
              <a:t>Upgrade </a:t>
            </a:r>
            <a:r>
              <a:rPr lang="en-US" dirty="0" err="1" smtClean="0">
                <a:solidFill>
                  <a:schemeClr val="tx1"/>
                </a:solidFill>
              </a:rPr>
              <a:t>na</a:t>
            </a:r>
            <a:r>
              <a:rPr lang="en-US" dirty="0" smtClean="0">
                <a:solidFill>
                  <a:schemeClr val="tx1"/>
                </a:solidFill>
              </a:rPr>
              <a:t> </a:t>
            </a:r>
            <a:r>
              <a:rPr lang="en-US" dirty="0" err="1" smtClean="0">
                <a:solidFill>
                  <a:schemeClr val="tx1"/>
                </a:solidFill>
              </a:rPr>
              <a:t>máquina</a:t>
            </a:r>
            <a:endParaRPr lang="en-US" dirty="0" smtClean="0">
              <a:solidFill>
                <a:schemeClr val="tx1"/>
              </a:solidFill>
            </a:endParaRPr>
          </a:p>
          <a:p>
            <a:r>
              <a:rPr lang="en-US" dirty="0" err="1" smtClean="0">
                <a:solidFill>
                  <a:schemeClr val="tx1"/>
                </a:solidFill>
              </a:rPr>
              <a:t>Habilitar</a:t>
            </a:r>
            <a:r>
              <a:rPr lang="en-US" dirty="0" smtClean="0">
                <a:solidFill>
                  <a:schemeClr val="tx1"/>
                </a:solidFill>
              </a:rPr>
              <a:t> </a:t>
            </a:r>
            <a:r>
              <a:rPr lang="en-US" dirty="0" err="1" smtClean="0">
                <a:solidFill>
                  <a:schemeClr val="tx1"/>
                </a:solidFill>
              </a:rPr>
              <a:t>memória</a:t>
            </a:r>
            <a:r>
              <a:rPr lang="en-US" dirty="0" smtClean="0">
                <a:solidFill>
                  <a:schemeClr val="tx1"/>
                </a:solidFill>
              </a:rPr>
              <a:t> virtual</a:t>
            </a:r>
          </a:p>
          <a:p>
            <a:r>
              <a:rPr lang="en-US" dirty="0" err="1" smtClean="0">
                <a:solidFill>
                  <a:schemeClr val="tx1"/>
                </a:solidFill>
              </a:rPr>
              <a:t>Procurar</a:t>
            </a:r>
            <a:r>
              <a:rPr lang="en-US" dirty="0" smtClean="0">
                <a:solidFill>
                  <a:schemeClr val="tx1"/>
                </a:solidFill>
              </a:rPr>
              <a:t> </a:t>
            </a:r>
            <a:r>
              <a:rPr lang="en-US" dirty="0" err="1" smtClean="0">
                <a:solidFill>
                  <a:schemeClr val="tx1"/>
                </a:solidFill>
              </a:rPr>
              <a:t>por</a:t>
            </a:r>
            <a:r>
              <a:rPr lang="en-US" dirty="0" smtClean="0">
                <a:solidFill>
                  <a:schemeClr val="tx1"/>
                </a:solidFill>
              </a:rPr>
              <a:t> </a:t>
            </a:r>
            <a:r>
              <a:rPr lang="en-US" dirty="0" err="1" smtClean="0">
                <a:solidFill>
                  <a:schemeClr val="tx1"/>
                </a:solidFill>
              </a:rPr>
              <a:t>modelos</a:t>
            </a:r>
            <a:r>
              <a:rPr lang="en-US" dirty="0" smtClean="0">
                <a:solidFill>
                  <a:schemeClr val="tx1"/>
                </a:solidFill>
              </a:rPr>
              <a:t> </a:t>
            </a:r>
            <a:r>
              <a:rPr lang="en-US" dirty="0" err="1" smtClean="0">
                <a:solidFill>
                  <a:schemeClr val="tx1"/>
                </a:solidFill>
              </a:rPr>
              <a:t>menores</a:t>
            </a:r>
            <a:endParaRPr lang="en-US" dirty="0" smtClean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748447255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" name="Google Shape;194;p36"/>
          <p:cNvSpPr txBox="1">
            <a:spLocks noGrp="1"/>
          </p:cNvSpPr>
          <p:nvPr>
            <p:ph type="title"/>
          </p:nvPr>
        </p:nvSpPr>
        <p:spPr>
          <a:xfrm>
            <a:off x="909735" y="273844"/>
            <a:ext cx="8234265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/>
          <a:p>
            <a:pPr lvl="0">
              <a:buSzPts val="2400"/>
            </a:pPr>
            <a:r>
              <a:rPr lang="pt-BR" sz="2400" dirty="0" smtClean="0"/>
              <a:t>Exercícios</a:t>
            </a:r>
            <a:endParaRPr sz="2400" dirty="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5" name="Google Shape;195;p36"/>
          <p:cNvSpPr txBox="1">
            <a:spLocks noGrp="1"/>
          </p:cNvSpPr>
          <p:nvPr>
            <p:ph type="body" idx="1"/>
          </p:nvPr>
        </p:nvSpPr>
        <p:spPr>
          <a:xfrm>
            <a:off x="628650" y="1369218"/>
            <a:ext cx="7886700" cy="36368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</a:pPr>
            <a:endParaRPr/>
          </a:p>
          <a:p>
            <a:pPr marL="0" lvl="0" indent="0" algn="l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</a:pPr>
            <a:r>
              <a:rPr lang="pt-BR"/>
              <a:t>  </a:t>
            </a:r>
            <a:endParaRPr/>
          </a:p>
        </p:txBody>
      </p:sp>
      <p:sp>
        <p:nvSpPr>
          <p:cNvPr id="5" name="Google Shape;211;p38"/>
          <p:cNvSpPr txBox="1">
            <a:spLocks/>
          </p:cNvSpPr>
          <p:nvPr/>
        </p:nvSpPr>
        <p:spPr>
          <a:xfrm>
            <a:off x="486942" y="1369218"/>
            <a:ext cx="8170116" cy="377428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7500" algn="l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21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r>
              <a:rPr lang="pt-BR" b="1" dirty="0"/>
              <a:t>Exercício 1 - </a:t>
            </a:r>
            <a:r>
              <a:rPr lang="pt-BR" dirty="0"/>
              <a:t>Utilize </a:t>
            </a:r>
            <a:r>
              <a:rPr lang="pt-BR" dirty="0" smtClean="0"/>
              <a:t>os modelos Starcoder e Qwen </a:t>
            </a:r>
            <a:r>
              <a:rPr lang="pt-BR" dirty="0"/>
              <a:t>para analisar o seguinte </a:t>
            </a:r>
            <a:r>
              <a:rPr lang="pt-BR" dirty="0" smtClean="0"/>
              <a:t>código em Java.</a:t>
            </a:r>
          </a:p>
          <a:p>
            <a:pPr marL="1054100" lvl="2" indent="0">
              <a:buNone/>
            </a:pPr>
            <a:endParaRPr lang="en-US" dirty="0" smtClean="0"/>
          </a:p>
          <a:p>
            <a:pPr marL="1054100" lvl="2" indent="0">
              <a:buNone/>
            </a:pPr>
            <a:r>
              <a:rPr lang="en-US" i="1" dirty="0" smtClean="0">
                <a:solidFill>
                  <a:schemeClr val="bg2"/>
                </a:solidFill>
              </a:rPr>
              <a:t>public </a:t>
            </a:r>
            <a:r>
              <a:rPr lang="en-US" i="1" dirty="0" err="1">
                <a:solidFill>
                  <a:schemeClr val="bg2"/>
                </a:solidFill>
              </a:rPr>
              <a:t>int</a:t>
            </a:r>
            <a:r>
              <a:rPr lang="en-US" i="1" dirty="0">
                <a:solidFill>
                  <a:schemeClr val="bg2"/>
                </a:solidFill>
              </a:rPr>
              <a:t> divide(</a:t>
            </a:r>
            <a:r>
              <a:rPr lang="en-US" i="1" dirty="0" err="1">
                <a:solidFill>
                  <a:schemeClr val="bg2"/>
                </a:solidFill>
              </a:rPr>
              <a:t>int</a:t>
            </a:r>
            <a:r>
              <a:rPr lang="en-US" i="1" dirty="0">
                <a:solidFill>
                  <a:schemeClr val="bg2"/>
                </a:solidFill>
              </a:rPr>
              <a:t> a, </a:t>
            </a:r>
            <a:r>
              <a:rPr lang="en-US" i="1" dirty="0" err="1">
                <a:solidFill>
                  <a:schemeClr val="bg2"/>
                </a:solidFill>
              </a:rPr>
              <a:t>int</a:t>
            </a:r>
            <a:r>
              <a:rPr lang="en-US" i="1" dirty="0">
                <a:solidFill>
                  <a:schemeClr val="bg2"/>
                </a:solidFill>
              </a:rPr>
              <a:t> b){</a:t>
            </a:r>
            <a:br>
              <a:rPr lang="en-US" i="1" dirty="0">
                <a:solidFill>
                  <a:schemeClr val="bg2"/>
                </a:solidFill>
              </a:rPr>
            </a:br>
            <a:r>
              <a:rPr lang="en-US" i="1" dirty="0" smtClean="0">
                <a:solidFill>
                  <a:schemeClr val="bg2"/>
                </a:solidFill>
              </a:rPr>
              <a:t>       return </a:t>
            </a:r>
            <a:r>
              <a:rPr lang="en-US" i="1" dirty="0">
                <a:solidFill>
                  <a:schemeClr val="bg2"/>
                </a:solidFill>
              </a:rPr>
              <a:t>a / b;</a:t>
            </a:r>
            <a:br>
              <a:rPr lang="en-US" i="1" dirty="0">
                <a:solidFill>
                  <a:schemeClr val="bg2"/>
                </a:solidFill>
              </a:rPr>
            </a:br>
            <a:r>
              <a:rPr lang="en-US" i="1" dirty="0">
                <a:solidFill>
                  <a:schemeClr val="bg2"/>
                </a:solidFill>
              </a:rPr>
              <a:t>}</a:t>
            </a:r>
            <a:endParaRPr lang="pt-BR" i="1" dirty="0">
              <a:solidFill>
                <a:schemeClr val="bg2"/>
              </a:solidFill>
            </a:endParaRPr>
          </a:p>
          <a:p>
            <a:endParaRPr lang="pt-BR" dirty="0" smtClean="0"/>
          </a:p>
          <a:p>
            <a:r>
              <a:rPr lang="pt-BR" dirty="0" smtClean="0"/>
              <a:t>Pergunte aos modelos se existe algum possível problema no código em Java</a:t>
            </a:r>
          </a:p>
          <a:p>
            <a:r>
              <a:rPr lang="pt-BR" dirty="0" smtClean="0"/>
              <a:t>Peça aos modelos para corrigir.</a:t>
            </a:r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1157702192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" name="Google Shape;194;p36"/>
          <p:cNvSpPr txBox="1">
            <a:spLocks noGrp="1"/>
          </p:cNvSpPr>
          <p:nvPr>
            <p:ph type="title"/>
          </p:nvPr>
        </p:nvSpPr>
        <p:spPr>
          <a:xfrm>
            <a:off x="909735" y="273844"/>
            <a:ext cx="8234265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/>
          <a:p>
            <a:pPr lvl="0">
              <a:buSzPts val="2400"/>
            </a:pPr>
            <a:r>
              <a:rPr lang="pt-BR" sz="2400" dirty="0" smtClean="0"/>
              <a:t>Exercícios</a:t>
            </a:r>
            <a:endParaRPr sz="2400" dirty="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5" name="Google Shape;195;p36"/>
          <p:cNvSpPr txBox="1">
            <a:spLocks noGrp="1"/>
          </p:cNvSpPr>
          <p:nvPr>
            <p:ph type="body" idx="1"/>
          </p:nvPr>
        </p:nvSpPr>
        <p:spPr>
          <a:xfrm>
            <a:off x="628650" y="1369218"/>
            <a:ext cx="7886700" cy="36368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</a:pPr>
            <a:endParaRPr/>
          </a:p>
          <a:p>
            <a:pPr marL="0" lvl="0" indent="0" algn="l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</a:pPr>
            <a:r>
              <a:rPr lang="pt-BR"/>
              <a:t>  </a:t>
            </a:r>
            <a:endParaRPr/>
          </a:p>
        </p:txBody>
      </p:sp>
      <p:sp>
        <p:nvSpPr>
          <p:cNvPr id="5" name="Google Shape;211;p38"/>
          <p:cNvSpPr txBox="1">
            <a:spLocks/>
          </p:cNvSpPr>
          <p:nvPr/>
        </p:nvSpPr>
        <p:spPr>
          <a:xfrm>
            <a:off x="486942" y="1369218"/>
            <a:ext cx="8170116" cy="377428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7500" algn="l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21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r>
              <a:rPr lang="pt-BR" b="1" dirty="0"/>
              <a:t>Exercício </a:t>
            </a:r>
            <a:r>
              <a:rPr lang="pt-BR" b="1" dirty="0" smtClean="0"/>
              <a:t>2 </a:t>
            </a:r>
            <a:r>
              <a:rPr lang="pt-BR" b="1" dirty="0"/>
              <a:t>- </a:t>
            </a:r>
            <a:r>
              <a:rPr lang="pt-BR" dirty="0"/>
              <a:t>Durante uma revisão de código, um desenvolvedor suspeita que uma regra de negócio pode ter sido implementada em mais de um lugar do sistema</a:t>
            </a:r>
            <a:r>
              <a:rPr lang="pt-BR" dirty="0" smtClean="0"/>
              <a:t>.</a:t>
            </a:r>
          </a:p>
          <a:p>
            <a:endParaRPr lang="pt-BR" dirty="0"/>
          </a:p>
          <a:p>
            <a:endParaRPr lang="pt-BR" dirty="0" smtClean="0"/>
          </a:p>
          <a:p>
            <a:endParaRPr lang="pt-BR" dirty="0"/>
          </a:p>
          <a:p>
            <a:endParaRPr lang="pt-BR" dirty="0" smtClean="0"/>
          </a:p>
          <a:p>
            <a:endParaRPr lang="pt-BR" dirty="0"/>
          </a:p>
          <a:p>
            <a:r>
              <a:rPr lang="pt-BR" dirty="0"/>
              <a:t>Utilize CodeBERT para calcular a similaridade entre os dois trechos de </a:t>
            </a:r>
            <a:r>
              <a:rPr lang="pt-BR" dirty="0" smtClean="0"/>
              <a:t>código e responder se existe duplicação</a:t>
            </a:r>
            <a:endParaRPr lang="pt-BR" dirty="0"/>
          </a:p>
          <a:p>
            <a:endParaRPr lang="pt-BR" dirty="0"/>
          </a:p>
          <a:p>
            <a:endParaRPr lang="pt-BR" dirty="0"/>
          </a:p>
        </p:txBody>
      </p:sp>
      <p:sp>
        <p:nvSpPr>
          <p:cNvPr id="3" name="Rectangle 2"/>
          <p:cNvSpPr/>
          <p:nvPr/>
        </p:nvSpPr>
        <p:spPr>
          <a:xfrm>
            <a:off x="695130" y="2639278"/>
            <a:ext cx="3023119" cy="138499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pt-BR" i="1" dirty="0">
                <a:solidFill>
                  <a:schemeClr val="bg2"/>
                </a:solidFill>
              </a:rPr>
              <a:t>public boolean isAdult(User user){</a:t>
            </a:r>
            <a:br>
              <a:rPr lang="pt-BR" i="1" dirty="0">
                <a:solidFill>
                  <a:schemeClr val="bg2"/>
                </a:solidFill>
              </a:rPr>
            </a:br>
            <a:r>
              <a:rPr lang="pt-BR" i="1" dirty="0" smtClean="0">
                <a:solidFill>
                  <a:schemeClr val="bg2"/>
                </a:solidFill>
              </a:rPr>
              <a:t>    if(user.getAge() &gt;= 18){</a:t>
            </a:r>
            <a:br>
              <a:rPr lang="pt-BR" i="1" dirty="0" smtClean="0">
                <a:solidFill>
                  <a:schemeClr val="bg2"/>
                </a:solidFill>
              </a:rPr>
            </a:br>
            <a:r>
              <a:rPr lang="pt-BR" i="1" dirty="0" smtClean="0">
                <a:solidFill>
                  <a:schemeClr val="bg2"/>
                </a:solidFill>
              </a:rPr>
              <a:t>        return true;</a:t>
            </a:r>
            <a:br>
              <a:rPr lang="pt-BR" i="1" dirty="0" smtClean="0">
                <a:solidFill>
                  <a:schemeClr val="bg2"/>
                </a:solidFill>
              </a:rPr>
            </a:br>
            <a:r>
              <a:rPr lang="pt-BR" i="1" dirty="0" smtClean="0">
                <a:solidFill>
                  <a:schemeClr val="bg2"/>
                </a:solidFill>
              </a:rPr>
              <a:t>    }</a:t>
            </a:r>
            <a:br>
              <a:rPr lang="pt-BR" i="1" dirty="0" smtClean="0">
                <a:solidFill>
                  <a:schemeClr val="bg2"/>
                </a:solidFill>
              </a:rPr>
            </a:br>
            <a:r>
              <a:rPr lang="pt-BR" i="1" dirty="0" smtClean="0">
                <a:solidFill>
                  <a:schemeClr val="bg2"/>
                </a:solidFill>
              </a:rPr>
              <a:t>    return false;</a:t>
            </a:r>
            <a:br>
              <a:rPr lang="pt-BR" i="1" dirty="0" smtClean="0">
                <a:solidFill>
                  <a:schemeClr val="bg2"/>
                </a:solidFill>
              </a:rPr>
            </a:br>
            <a:r>
              <a:rPr lang="pt-BR" i="1" dirty="0" smtClean="0">
                <a:solidFill>
                  <a:schemeClr val="bg2"/>
                </a:solidFill>
              </a:rPr>
              <a:t>}</a:t>
            </a:r>
            <a:endParaRPr lang="pt-BR" i="1" dirty="0">
              <a:solidFill>
                <a:schemeClr val="bg2"/>
              </a:solidFill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4235221" y="2639278"/>
            <a:ext cx="4572000" cy="1384995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pt-BR" i="1" dirty="0">
                <a:solidFill>
                  <a:schemeClr val="bg2"/>
                </a:solidFill>
              </a:rPr>
              <a:t>public boolean canAccessRestrictedArea(User user</a:t>
            </a:r>
            <a:r>
              <a:rPr lang="pt-BR" i="1" dirty="0" smtClean="0">
                <a:solidFill>
                  <a:schemeClr val="bg2"/>
                </a:solidFill>
              </a:rPr>
              <a:t>){</a:t>
            </a:r>
            <a:endParaRPr lang="pt-BR" i="1" dirty="0">
              <a:solidFill>
                <a:schemeClr val="bg2"/>
              </a:solidFill>
            </a:endParaRPr>
          </a:p>
          <a:p>
            <a:r>
              <a:rPr lang="pt-BR" i="1" dirty="0">
                <a:solidFill>
                  <a:schemeClr val="bg2"/>
                </a:solidFill>
              </a:rPr>
              <a:t>    if(user.isActive() &amp;&amp; user.getAge() &gt;= 18){</a:t>
            </a:r>
          </a:p>
          <a:p>
            <a:r>
              <a:rPr lang="pt-BR" i="1" dirty="0">
                <a:solidFill>
                  <a:schemeClr val="bg2"/>
                </a:solidFill>
              </a:rPr>
              <a:t>        return true;</a:t>
            </a:r>
          </a:p>
          <a:p>
            <a:r>
              <a:rPr lang="pt-BR" i="1" dirty="0">
                <a:solidFill>
                  <a:schemeClr val="bg2"/>
                </a:solidFill>
              </a:rPr>
              <a:t>    </a:t>
            </a:r>
            <a:r>
              <a:rPr lang="pt-BR" i="1" dirty="0" smtClean="0">
                <a:solidFill>
                  <a:schemeClr val="bg2"/>
                </a:solidFill>
              </a:rPr>
              <a:t>}</a:t>
            </a:r>
            <a:endParaRPr lang="pt-BR" i="1" dirty="0">
              <a:solidFill>
                <a:schemeClr val="bg2"/>
              </a:solidFill>
            </a:endParaRPr>
          </a:p>
          <a:p>
            <a:r>
              <a:rPr lang="pt-BR" i="1" dirty="0">
                <a:solidFill>
                  <a:schemeClr val="bg2"/>
                </a:solidFill>
              </a:rPr>
              <a:t>    return false;</a:t>
            </a:r>
          </a:p>
          <a:p>
            <a:r>
              <a:rPr lang="pt-BR" i="1" dirty="0">
                <a:solidFill>
                  <a:schemeClr val="bg2"/>
                </a:solidFill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2245433770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" name="Google Shape;194;p36"/>
          <p:cNvSpPr txBox="1">
            <a:spLocks noGrp="1"/>
          </p:cNvSpPr>
          <p:nvPr>
            <p:ph type="title"/>
          </p:nvPr>
        </p:nvSpPr>
        <p:spPr>
          <a:xfrm>
            <a:off x="909735" y="273844"/>
            <a:ext cx="8234265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/>
          <a:p>
            <a:pPr lvl="0">
              <a:buSzPts val="2400"/>
            </a:pPr>
            <a:r>
              <a:rPr lang="pt-BR" sz="2400" dirty="0" smtClean="0"/>
              <a:t>Exercícios</a:t>
            </a:r>
            <a:endParaRPr sz="2400" dirty="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5" name="Google Shape;195;p36"/>
          <p:cNvSpPr txBox="1">
            <a:spLocks noGrp="1"/>
          </p:cNvSpPr>
          <p:nvPr>
            <p:ph type="body" idx="1"/>
          </p:nvPr>
        </p:nvSpPr>
        <p:spPr>
          <a:xfrm>
            <a:off x="628650" y="1369218"/>
            <a:ext cx="7886700" cy="36368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</a:pPr>
            <a:endParaRPr/>
          </a:p>
          <a:p>
            <a:pPr marL="0" lvl="0" indent="0" algn="l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</a:pPr>
            <a:r>
              <a:rPr lang="pt-BR"/>
              <a:t>  </a:t>
            </a:r>
            <a:endParaRPr/>
          </a:p>
        </p:txBody>
      </p:sp>
      <p:sp>
        <p:nvSpPr>
          <p:cNvPr id="5" name="Google Shape;211;p38"/>
          <p:cNvSpPr txBox="1">
            <a:spLocks/>
          </p:cNvSpPr>
          <p:nvPr/>
        </p:nvSpPr>
        <p:spPr>
          <a:xfrm>
            <a:off x="486942" y="1369218"/>
            <a:ext cx="8170116" cy="377428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 fontScale="92500" lnSpcReduction="10000"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7500" algn="l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21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r>
              <a:rPr lang="pt-BR" b="1" dirty="0"/>
              <a:t>Exercício </a:t>
            </a:r>
            <a:r>
              <a:rPr lang="pt-BR" b="1" dirty="0" smtClean="0"/>
              <a:t>3 – </a:t>
            </a:r>
            <a:r>
              <a:rPr lang="pt-BR" dirty="0" smtClean="0"/>
              <a:t>Considere o método em Java</a:t>
            </a:r>
          </a:p>
          <a:p>
            <a:endParaRPr lang="pt-BR" dirty="0"/>
          </a:p>
          <a:p>
            <a:endParaRPr lang="pt-BR" dirty="0" smtClean="0"/>
          </a:p>
          <a:p>
            <a:endParaRPr lang="pt-BR" dirty="0"/>
          </a:p>
          <a:p>
            <a:endParaRPr lang="pt-BR" dirty="0" smtClean="0"/>
          </a:p>
          <a:p>
            <a:endParaRPr lang="pt-BR" dirty="0"/>
          </a:p>
          <a:p>
            <a:endParaRPr lang="pt-BR" dirty="0" smtClean="0"/>
          </a:p>
          <a:p>
            <a:endParaRPr lang="pt-BR" smtClean="0"/>
          </a:p>
          <a:p>
            <a:r>
              <a:rPr lang="pt-BR" smtClean="0"/>
              <a:t>Utilize </a:t>
            </a:r>
            <a:r>
              <a:rPr lang="pt-BR" dirty="0"/>
              <a:t>os modelos Starcoder e Qwen </a:t>
            </a:r>
            <a:r>
              <a:rPr lang="pt-BR" dirty="0" smtClean="0"/>
              <a:t>para:</a:t>
            </a:r>
          </a:p>
          <a:p>
            <a:pPr lvl="1"/>
            <a:r>
              <a:rPr lang="pt-BR" dirty="0" smtClean="0"/>
              <a:t>Gerar testes automatizados</a:t>
            </a:r>
          </a:p>
          <a:p>
            <a:pPr lvl="1"/>
            <a:r>
              <a:rPr lang="pt-BR" dirty="0" smtClean="0"/>
              <a:t>Gerar documentação</a:t>
            </a:r>
            <a:endParaRPr lang="pt-BR" dirty="0"/>
          </a:p>
          <a:p>
            <a:endParaRPr lang="pt-BR" dirty="0"/>
          </a:p>
        </p:txBody>
      </p:sp>
      <p:sp>
        <p:nvSpPr>
          <p:cNvPr id="2" name="Rectangle 1"/>
          <p:cNvSpPr/>
          <p:nvPr/>
        </p:nvSpPr>
        <p:spPr>
          <a:xfrm>
            <a:off x="1908110" y="1798264"/>
            <a:ext cx="4572000" cy="2246769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pt-BR" i="1" dirty="0">
                <a:solidFill>
                  <a:schemeClr val="bg2"/>
                </a:solidFill>
              </a:rPr>
              <a:t>public boolean isPrime(int n){</a:t>
            </a:r>
          </a:p>
          <a:p>
            <a:r>
              <a:rPr lang="pt-BR" i="1" dirty="0">
                <a:solidFill>
                  <a:schemeClr val="bg2"/>
                </a:solidFill>
              </a:rPr>
              <a:t>    if(n &lt;= 1) return false;</a:t>
            </a:r>
          </a:p>
          <a:p>
            <a:endParaRPr lang="pt-BR" i="1" dirty="0">
              <a:solidFill>
                <a:schemeClr val="bg2"/>
              </a:solidFill>
            </a:endParaRPr>
          </a:p>
          <a:p>
            <a:r>
              <a:rPr lang="pt-BR" i="1" dirty="0">
                <a:solidFill>
                  <a:schemeClr val="bg2"/>
                </a:solidFill>
              </a:rPr>
              <a:t>    for(int i = 2; i &lt; n; i++){</a:t>
            </a:r>
          </a:p>
          <a:p>
            <a:r>
              <a:rPr lang="pt-BR" i="1" dirty="0">
                <a:solidFill>
                  <a:schemeClr val="bg2"/>
                </a:solidFill>
              </a:rPr>
              <a:t>        if(n % i == 0)</a:t>
            </a:r>
          </a:p>
          <a:p>
            <a:r>
              <a:rPr lang="pt-BR" i="1" dirty="0">
                <a:solidFill>
                  <a:schemeClr val="bg2"/>
                </a:solidFill>
              </a:rPr>
              <a:t>            return false;</a:t>
            </a:r>
          </a:p>
          <a:p>
            <a:r>
              <a:rPr lang="pt-BR" i="1" dirty="0">
                <a:solidFill>
                  <a:schemeClr val="bg2"/>
                </a:solidFill>
              </a:rPr>
              <a:t>    }</a:t>
            </a:r>
          </a:p>
          <a:p>
            <a:endParaRPr lang="pt-BR" i="1" dirty="0">
              <a:solidFill>
                <a:schemeClr val="bg2"/>
              </a:solidFill>
            </a:endParaRPr>
          </a:p>
          <a:p>
            <a:r>
              <a:rPr lang="pt-BR" i="1" dirty="0">
                <a:solidFill>
                  <a:schemeClr val="bg2"/>
                </a:solidFill>
              </a:rPr>
              <a:t>    return true;</a:t>
            </a:r>
          </a:p>
          <a:p>
            <a:r>
              <a:rPr lang="pt-BR" i="1" dirty="0">
                <a:solidFill>
                  <a:schemeClr val="bg2"/>
                </a:solidFill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3264810952"/>
      </p:ext>
    </p:extLst>
  </p:cSld>
  <p:clrMapOvr>
    <a:masterClrMapping/>
  </p:clrMapOvr>
</p:sld>
</file>

<file path=ppt/theme/theme1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Tema do Office">
  <a:themeElements>
    <a:clrScheme name="Escritório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4381</TotalTime>
  <Words>1070</Words>
  <Application>Microsoft Office PowerPoint</Application>
  <PresentationFormat>On-screen Show (16:9)</PresentationFormat>
  <Paragraphs>266</Paragraphs>
  <Slides>28</Slides>
  <Notes>28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28</vt:i4>
      </vt:variant>
    </vt:vector>
  </HeadingPairs>
  <TitlesOfParts>
    <vt:vector size="33" baseType="lpstr">
      <vt:lpstr>Arial</vt:lpstr>
      <vt:lpstr>Calibri</vt:lpstr>
      <vt:lpstr>Consolas</vt:lpstr>
      <vt:lpstr>Simple Light</vt:lpstr>
      <vt:lpstr>Tema do Office</vt:lpstr>
      <vt:lpstr>Instituto Federal de Educação, Ciência e Tecnologia Triângulo Mineiro – Campus Uberlândia Centro Curso Técnico - Integrado</vt:lpstr>
      <vt:lpstr>O que é um modelo de IA?</vt:lpstr>
      <vt:lpstr>O que é um modelo de IA?</vt:lpstr>
      <vt:lpstr>Arquitetura Transformer</vt:lpstr>
      <vt:lpstr>PowerPoint Presentation</vt:lpstr>
      <vt:lpstr>Sentence Transformers</vt:lpstr>
      <vt:lpstr>Modelos Pré-Treinados - Sentence Transformer all-MiniLM-L6-v2</vt:lpstr>
      <vt:lpstr>Modelos Pré-Treinados - Sentence Transformer all-MiniLM-L6-v2</vt:lpstr>
      <vt:lpstr>Modelos Pré-Treinados – Vantagens e Desvantagens</vt:lpstr>
      <vt:lpstr>Alguns Modelos Pré-Treinados acessíveis via Python</vt:lpstr>
      <vt:lpstr>Se GPT e Gemini respondem (quase) tudo, por que existem tantos modelos?</vt:lpstr>
      <vt:lpstr>Code BERT - entendimento de código</vt:lpstr>
      <vt:lpstr>Code BERT - entendimento de código</vt:lpstr>
      <vt:lpstr>Rodando o modelo Sentence Transformer (all-MiniLM-L2-V2)</vt:lpstr>
      <vt:lpstr>Code Bert  vs Sentence Transformer</vt:lpstr>
      <vt:lpstr>StarCoder – Autocomplete de Código</vt:lpstr>
      <vt:lpstr>StarCoder – Autocomplete de Código</vt:lpstr>
      <vt:lpstr>StarCoder – Autocomplete de Código</vt:lpstr>
      <vt:lpstr>StarCoder</vt:lpstr>
      <vt:lpstr>Site Hugging Face</vt:lpstr>
      <vt:lpstr>Qwen - Refactoring</vt:lpstr>
      <vt:lpstr>Qwen - Refactoring</vt:lpstr>
      <vt:lpstr>Code Llama – Geração de Código</vt:lpstr>
      <vt:lpstr>Code Llama – Geração de Código</vt:lpstr>
      <vt:lpstr>Alternativas?</vt:lpstr>
      <vt:lpstr>Exercícios</vt:lpstr>
      <vt:lpstr>Exercícios</vt:lpstr>
      <vt:lpstr>Exercícios</vt:lpstr>
    </vt:vector>
  </TitlesOfParts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Instituto Federal de Educação, Ciência e Tecnologia Triângulo Mineiro – Campus Uberlândia Centro Curso Superior de Tecnologia em Sistemas para Internet</dc:title>
  <cp:lastModifiedBy>Microsoft account</cp:lastModifiedBy>
  <cp:revision>134</cp:revision>
  <dcterms:modified xsi:type="dcterms:W3CDTF">2026-03-16T04:27:11Z</dcterms:modified>
</cp:coreProperties>
</file>