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9" r:id="rId1"/>
    <p:sldMasterId id="2147483680" r:id="rId2"/>
  </p:sldMasterIdLst>
  <p:notesMasterIdLst>
    <p:notesMasterId r:id="rId18"/>
  </p:notesMasterIdLst>
  <p:sldIdLst>
    <p:sldId id="256" r:id="rId3"/>
    <p:sldId id="258" r:id="rId4"/>
    <p:sldId id="315" r:id="rId5"/>
    <p:sldId id="316" r:id="rId6"/>
    <p:sldId id="317" r:id="rId7"/>
    <p:sldId id="318" r:id="rId8"/>
    <p:sldId id="320" r:id="rId9"/>
    <p:sldId id="321" r:id="rId10"/>
    <p:sldId id="323" r:id="rId11"/>
    <p:sldId id="324" r:id="rId12"/>
    <p:sldId id="312" r:id="rId13"/>
    <p:sldId id="325" r:id="rId14"/>
    <p:sldId id="326" r:id="rId15"/>
    <p:sldId id="327" r:id="rId16"/>
    <p:sldId id="328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216" d="100"/>
          <a:sy n="216" d="100"/>
        </p:scale>
        <p:origin x="2766" y="1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122925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e546029073_2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1e546029073_2_124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50" tIns="44800" rIns="89650" bIns="448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77" name="Google Shape;177;g1e546029073_2_124:notes"/>
          <p:cNvSpPr txBox="1">
            <a:spLocks noGrp="1"/>
          </p:cNvSpPr>
          <p:nvPr>
            <p:ph type="sldNum" idx="12"/>
          </p:nvPr>
        </p:nvSpPr>
        <p:spPr>
          <a:xfrm>
            <a:off x="3884995" y="8685442"/>
            <a:ext cx="2971437" cy="458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50" tIns="44800" rIns="89650" bIns="448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400"/>
              <a:t>1</a:t>
            </a:fld>
            <a:endParaRPr sz="1400"/>
          </a:p>
        </p:txBody>
      </p:sp>
    </p:spTree>
    <p:extLst>
      <p:ext uri="{BB962C8B-B14F-4D97-AF65-F5344CB8AC3E}">
        <p14:creationId xmlns:p14="http://schemas.microsoft.com/office/powerpoint/2010/main" val="468492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7153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877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9004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9075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59678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37236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1255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e546029073_2_145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0" name="Google Shape;200;g1e546029073_2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28108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72338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80332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33383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23454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4912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546029073_2_139:notes"/>
          <p:cNvSpPr txBox="1">
            <a:spLocks noGrp="1"/>
          </p:cNvSpPr>
          <p:nvPr>
            <p:ph type="body" idx="1"/>
          </p:nvPr>
        </p:nvSpPr>
        <p:spPr>
          <a:xfrm>
            <a:off x="685959" y="4400041"/>
            <a:ext cx="5486094" cy="3600582"/>
          </a:xfrm>
          <a:prstGeom prst="rect">
            <a:avLst/>
          </a:prstGeom>
        </p:spPr>
        <p:txBody>
          <a:bodyPr spcFirstLastPara="1" wrap="square" lIns="89650" tIns="89650" rIns="89650" bIns="89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1e546029073_2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7643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4" name="Google Shape;64;p14" descr="https://scontent-gru.xx.fbcdn.net/hphotos-xfp1/v/t1.0-9/10550955_973364799357819_6866990541106677591_n.jpg?oh=75a66e5426574f3d9cd5df61457c91b4&amp;oe=557DE0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819" y="34528"/>
            <a:ext cx="1126331" cy="11263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" name="Google Shape;65;p14"/>
          <p:cNvCxnSpPr/>
          <p:nvPr/>
        </p:nvCxnSpPr>
        <p:spPr>
          <a:xfrm rot="10800000" flipH="1">
            <a:off x="142875" y="1257300"/>
            <a:ext cx="8943975" cy="17860"/>
          </a:xfrm>
          <a:prstGeom prst="straightConnector1">
            <a:avLst/>
          </a:prstGeom>
          <a:noFill/>
          <a:ln w="19050" cap="flat" cmpd="sng">
            <a:solidFill>
              <a:srgbClr val="0066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1098550" y="273844"/>
            <a:ext cx="741679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1098550" y="273844"/>
            <a:ext cx="741679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914400" y="273844"/>
            <a:ext cx="7602141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1098550" y="273844"/>
            <a:ext cx="741679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title"/>
          </p:nvPr>
        </p:nvSpPr>
        <p:spPr>
          <a:xfrm>
            <a:off x="1098550" y="273844"/>
            <a:ext cx="741679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>
            <a:spLocks noGrp="1"/>
          </p:cNvSpPr>
          <p:nvPr>
            <p:ph type="title"/>
          </p:nvPr>
        </p:nvSpPr>
        <p:spPr>
          <a:xfrm>
            <a:off x="1098550" y="273844"/>
            <a:ext cx="741679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© carloseduardodantas@iftm.edu.br</a:t>
            </a: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>
            <a:spLocks noGrp="1"/>
          </p:cNvSpPr>
          <p:nvPr>
            <p:ph type="title"/>
          </p:nvPr>
        </p:nvSpPr>
        <p:spPr>
          <a:xfrm>
            <a:off x="1098550" y="273844"/>
            <a:ext cx="741679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© carloseduardodantas@iftm.edu.br</a:t>
            </a: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ayout Personalizado">
  <p:cSld name="2_Layout Personalizado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>
            <a:spLocks noGrp="1"/>
          </p:cNvSpPr>
          <p:nvPr>
            <p:ph type="title"/>
          </p:nvPr>
        </p:nvSpPr>
        <p:spPr>
          <a:xfrm>
            <a:off x="1098550" y="273844"/>
            <a:ext cx="741679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© carloseduardodantas@iftm.edu.br</a:t>
            </a: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>
            <a:spLocks noGrp="1"/>
          </p:cNvSpPr>
          <p:nvPr>
            <p:ph type="title"/>
          </p:nvPr>
        </p:nvSpPr>
        <p:spPr>
          <a:xfrm>
            <a:off x="1098550" y="273844"/>
            <a:ext cx="741679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© carloseduardodantas@iftm.edu.br</a:t>
            </a: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Layout Personalizado">
  <p:cSld name="4_Layout Personalizado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>
            <a:spLocks noGrp="1"/>
          </p:cNvSpPr>
          <p:nvPr>
            <p:ph type="title"/>
          </p:nvPr>
        </p:nvSpPr>
        <p:spPr>
          <a:xfrm>
            <a:off x="1098550" y="273844"/>
            <a:ext cx="741679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© carloseduardodantas@iftm.edu.br</a:t>
            </a: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Layout Personalizado">
  <p:cSld name="5_Layout Personalizado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>
            <a:spLocks noGrp="1"/>
          </p:cNvSpPr>
          <p:nvPr>
            <p:ph type="title"/>
          </p:nvPr>
        </p:nvSpPr>
        <p:spPr>
          <a:xfrm>
            <a:off x="1098550" y="273844"/>
            <a:ext cx="741679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© carloseduardodantas@iftm.edu.br</a:t>
            </a: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Layout Personalizado">
  <p:cSld name="6_Layout Personalizado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>
            <a:spLocks noGrp="1"/>
          </p:cNvSpPr>
          <p:nvPr>
            <p:ph type="title"/>
          </p:nvPr>
        </p:nvSpPr>
        <p:spPr>
          <a:xfrm>
            <a:off x="1098550" y="273844"/>
            <a:ext cx="741679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Layout Personalizado">
  <p:cSld name="7_Layout Personalizado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>
            <a:spLocks noGrp="1"/>
          </p:cNvSpPr>
          <p:nvPr>
            <p:ph type="title"/>
          </p:nvPr>
        </p:nvSpPr>
        <p:spPr>
          <a:xfrm>
            <a:off x="1098550" y="273844"/>
            <a:ext cx="741679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3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Layout Personalizado">
  <p:cSld name="8_Layout Personalizado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3"/>
          <p:cNvSpPr txBox="1">
            <a:spLocks noGrp="1"/>
          </p:cNvSpPr>
          <p:nvPr>
            <p:ph type="title"/>
          </p:nvPr>
        </p:nvSpPr>
        <p:spPr>
          <a:xfrm>
            <a:off x="1098550" y="273844"/>
            <a:ext cx="741679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3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098550" y="273844"/>
            <a:ext cx="7416799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6" name="Google Shape;56;p13" descr="https://scontent-gru.xx.fbcdn.net/hphotos-xfp1/v/t1.0-9/10550955_973364799357819_6866990541106677591_n.jpg?oh=75a66e5426574f3d9cd5df61457c91b4&amp;oe=557DE048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73819" y="34528"/>
            <a:ext cx="1126331" cy="11263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13"/>
          <p:cNvCxnSpPr/>
          <p:nvPr/>
        </p:nvCxnSpPr>
        <p:spPr>
          <a:xfrm rot="10800000" flipH="1">
            <a:off x="142875" y="1268016"/>
            <a:ext cx="8924925" cy="7144"/>
          </a:xfrm>
          <a:prstGeom prst="straightConnector1">
            <a:avLst/>
          </a:prstGeom>
          <a:noFill/>
          <a:ln w="19050" cap="flat" cmpd="sng">
            <a:solidFill>
              <a:srgbClr val="0066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arloseduardodantas@iftm.edu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carloseduardoxp.github.io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gif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 txBox="1">
            <a:spLocks noGrp="1"/>
          </p:cNvSpPr>
          <p:nvPr>
            <p:ph type="ctrTitle"/>
          </p:nvPr>
        </p:nvSpPr>
        <p:spPr>
          <a:xfrm>
            <a:off x="954055" y="248121"/>
            <a:ext cx="8285584" cy="98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lvl="0">
              <a:lnSpc>
                <a:spcPct val="150000"/>
              </a:lnSpc>
              <a:buSzPts val="1800"/>
            </a:pPr>
            <a:r>
              <a:rPr lang="pt-BR" sz="1800" b="1" dirty="0">
                <a:latin typeface="Arial"/>
                <a:ea typeface="Arial"/>
                <a:cs typeface="Arial"/>
                <a:sym typeface="Arial"/>
              </a:rPr>
              <a:t>Instituto Federal de Educação, Ciência e Tecnologia</a:t>
            </a:r>
            <a:br>
              <a:rPr lang="pt-BR" sz="1800" b="1" dirty="0">
                <a:latin typeface="Arial"/>
                <a:ea typeface="Arial"/>
                <a:cs typeface="Arial"/>
                <a:sym typeface="Arial"/>
              </a:rPr>
            </a:br>
            <a:r>
              <a:rPr lang="pt-BR" sz="1800" b="1" dirty="0">
                <a:latin typeface="Arial"/>
                <a:ea typeface="Arial"/>
                <a:cs typeface="Arial"/>
                <a:sym typeface="Arial"/>
              </a:rPr>
              <a:t>Triângulo Mineiro – Campus Uberlândia Centro</a:t>
            </a:r>
            <a:br>
              <a:rPr lang="pt-BR" sz="1800" b="1" dirty="0">
                <a:latin typeface="Arial"/>
                <a:ea typeface="Arial"/>
                <a:cs typeface="Arial"/>
                <a:sym typeface="Arial"/>
              </a:rPr>
            </a:br>
            <a:r>
              <a:rPr lang="pt-BR" sz="1600" dirty="0">
                <a:latin typeface="Arial"/>
                <a:ea typeface="Arial"/>
                <a:cs typeface="Arial"/>
                <a:sym typeface="Arial"/>
              </a:rPr>
              <a:t>Curso </a:t>
            </a:r>
            <a:r>
              <a:rPr lang="pt-BR" sz="1600" dirty="0" smtClean="0">
                <a:latin typeface="Arial"/>
                <a:ea typeface="Arial"/>
                <a:cs typeface="Arial"/>
                <a:sym typeface="Arial"/>
              </a:rPr>
              <a:t>Técnico - Integrado</a:t>
            </a:r>
            <a:endParaRPr sz="1500" dirty="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34"/>
          <p:cNvCxnSpPr/>
          <p:nvPr/>
        </p:nvCxnSpPr>
        <p:spPr>
          <a:xfrm rot="10800000" flipH="1">
            <a:off x="142875" y="1257300"/>
            <a:ext cx="8943975" cy="17860"/>
          </a:xfrm>
          <a:prstGeom prst="straightConnector1">
            <a:avLst/>
          </a:prstGeom>
          <a:noFill/>
          <a:ln w="19050" cap="flat" cmpd="sng">
            <a:solidFill>
              <a:srgbClr val="0066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2" name="Google Shape;182;p34"/>
          <p:cNvSpPr txBox="1"/>
          <p:nvPr/>
        </p:nvSpPr>
        <p:spPr>
          <a:xfrm>
            <a:off x="472070" y="3429133"/>
            <a:ext cx="8285584" cy="98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lvl="0" algn="ctr">
              <a:lnSpc>
                <a:spcPct val="150000"/>
              </a:lnSpc>
              <a:buClr>
                <a:schemeClr val="dk1"/>
              </a:buClr>
              <a:buSzPts val="3200"/>
            </a:pPr>
            <a:r>
              <a:rPr lang="pt-BR" sz="2400" b="1" dirty="0" smtClean="0">
                <a:solidFill>
                  <a:schemeClr val="dk1"/>
                </a:solidFill>
              </a:rPr>
              <a:t>UCP – Inteligência Artificial Aplicada na Engenharia de Software</a:t>
            </a:r>
            <a:endParaRPr lang="pt-BR" sz="1200"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 sz="1600" b="1" smtClean="0">
                <a:solidFill>
                  <a:schemeClr val="dk1"/>
                </a:solidFill>
              </a:rPr>
              <a:t>Slide </a:t>
            </a:r>
            <a:r>
              <a:rPr lang="pt-BR" sz="1600" b="1" smtClean="0">
                <a:solidFill>
                  <a:schemeClr val="dk1"/>
                </a:solidFill>
              </a:rPr>
              <a:t>5 </a:t>
            </a:r>
            <a:r>
              <a:rPr lang="pt-BR" sz="1600" b="1" dirty="0" smtClean="0">
                <a:solidFill>
                  <a:schemeClr val="dk1"/>
                </a:solidFill>
              </a:rPr>
              <a:t>– Expondo LLMs via Endpoints REST</a:t>
            </a:r>
            <a:endParaRPr sz="1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endParaRPr sz="21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t-BR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Prof. Carlos Eduardo de Carvalho Dantas</a:t>
            </a:r>
            <a:endParaRPr sz="1100"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pt-BR" sz="15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carloseduardodantas@iftm.edu.br</a:t>
            </a:r>
            <a:endParaRPr sz="1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pt-BR" sz="1500" dirty="0">
                <a:solidFill>
                  <a:schemeClr val="dk1"/>
                </a:solidFill>
                <a:hlinkClick r:id="rId4"/>
              </a:rPr>
              <a:t>https://carloseduardoxp.github.io</a:t>
            </a:r>
            <a:r>
              <a:rPr lang="pt-BR" sz="1500" dirty="0" smtClean="0">
                <a:solidFill>
                  <a:schemeClr val="dk1"/>
                </a:solidFill>
                <a:hlinkClick r:id="rId4"/>
              </a:rPr>
              <a:t>/</a:t>
            </a:r>
            <a:r>
              <a:rPr lang="pt-BR" sz="1500" dirty="0" smtClean="0">
                <a:solidFill>
                  <a:schemeClr val="dk1"/>
                </a:solidFill>
              </a:rPr>
              <a:t> </a:t>
            </a:r>
            <a:endParaRPr sz="1500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 smtClean="0"/>
              <a:t>Introdução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sp>
        <p:nvSpPr>
          <p:cNvPr id="7" name="Google Shape;211;p38"/>
          <p:cNvSpPr txBox="1">
            <a:spLocks/>
          </p:cNvSpPr>
          <p:nvPr/>
        </p:nvSpPr>
        <p:spPr>
          <a:xfrm>
            <a:off x="41988" y="1305673"/>
            <a:ext cx="9102012" cy="3837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1800" dirty="0"/>
              <a:t>Modelos de linguagem (LLMs) não são usados </a:t>
            </a:r>
            <a:r>
              <a:rPr lang="pt-BR" sz="1800" dirty="0" smtClean="0"/>
              <a:t>isoladamente</a:t>
            </a:r>
          </a:p>
          <a:p>
            <a:pPr lvl="1"/>
            <a:r>
              <a:rPr lang="pt-BR" sz="1400" dirty="0"/>
              <a:t>Eles fazem parte de aplicações reais (web, mobile, sistemas corporativos</a:t>
            </a:r>
            <a:r>
              <a:rPr lang="pt-BR" sz="1400" dirty="0" smtClean="0"/>
              <a:t>)</a:t>
            </a:r>
          </a:p>
          <a:p>
            <a:r>
              <a:rPr lang="pt-BR" sz="1800" dirty="0"/>
              <a:t>A aplicação precisa enviar dados ao </a:t>
            </a:r>
            <a:r>
              <a:rPr lang="pt-BR" sz="1800" dirty="0" smtClean="0"/>
              <a:t>modelo</a:t>
            </a:r>
          </a:p>
          <a:p>
            <a:pPr lvl="1"/>
            <a:r>
              <a:rPr lang="pt-BR" sz="1400" dirty="0"/>
              <a:t>Ex: texto do usuário, contexto, instruções (prompt</a:t>
            </a:r>
            <a:r>
              <a:rPr lang="pt-BR" sz="1400" dirty="0" smtClean="0"/>
              <a:t>)</a:t>
            </a:r>
          </a:p>
          <a:p>
            <a:r>
              <a:rPr lang="pt-BR" sz="1800" dirty="0"/>
              <a:t>E também precisa receber a resposta </a:t>
            </a:r>
            <a:r>
              <a:rPr lang="pt-BR" sz="1800" dirty="0" smtClean="0"/>
              <a:t>gerada</a:t>
            </a:r>
          </a:p>
          <a:p>
            <a:pPr lvl="1"/>
            <a:r>
              <a:rPr lang="pt-BR" sz="1400" dirty="0"/>
              <a:t>Ex: sugestão de código, resumo, resposta em linguagem </a:t>
            </a:r>
            <a:r>
              <a:rPr lang="pt-BR" sz="1400" dirty="0" smtClean="0"/>
              <a:t>natural</a:t>
            </a:r>
          </a:p>
          <a:p>
            <a:r>
              <a:rPr lang="pt-BR" sz="1800" dirty="0"/>
              <a:t>Ou seja, é necessário um meio de comunicação entre aplicação e LLM</a:t>
            </a:r>
          </a:p>
        </p:txBody>
      </p:sp>
      <p:pic>
        <p:nvPicPr>
          <p:cNvPr id="1026" name="Picture 2" descr="6/ &quot;GPT is all you need for the backend&quot; https://t.co/Wu7XOqFHbi Tired: use  an LLM to help you write a backend Wired: LLM is the backend Inspiring  project from a recent Scale hackathon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9409" y="3493149"/>
            <a:ext cx="3487395" cy="165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 smtClean="0"/>
              <a:t>Endpoints REST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sp>
        <p:nvSpPr>
          <p:cNvPr id="7" name="Google Shape;211;p38"/>
          <p:cNvSpPr txBox="1">
            <a:spLocks/>
          </p:cNvSpPr>
          <p:nvPr/>
        </p:nvSpPr>
        <p:spPr>
          <a:xfrm>
            <a:off x="-18661" y="1305673"/>
            <a:ext cx="4963885" cy="3837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1800" dirty="0"/>
              <a:t>O backend atua como </a:t>
            </a:r>
            <a:r>
              <a:rPr lang="pt-BR" sz="1800" dirty="0" smtClean="0"/>
              <a:t>intermediário</a:t>
            </a:r>
          </a:p>
          <a:p>
            <a:pPr lvl="1"/>
            <a:r>
              <a:rPr lang="pt-BR" sz="1600" dirty="0" smtClean="0"/>
              <a:t>Recebe </a:t>
            </a:r>
            <a:r>
              <a:rPr lang="pt-BR" sz="1600" dirty="0"/>
              <a:t>requisições da </a:t>
            </a:r>
            <a:r>
              <a:rPr lang="pt-BR" sz="1600" dirty="0" smtClean="0"/>
              <a:t>aplicação</a:t>
            </a:r>
          </a:p>
          <a:p>
            <a:pPr lvl="1"/>
            <a:r>
              <a:rPr lang="pt-BR" sz="1600" dirty="0" smtClean="0"/>
              <a:t>Envia </a:t>
            </a:r>
            <a:r>
              <a:rPr lang="pt-BR" sz="1600" dirty="0"/>
              <a:t>o prompt para o </a:t>
            </a:r>
            <a:r>
              <a:rPr lang="pt-BR" sz="1600" dirty="0" smtClean="0"/>
              <a:t>LLM</a:t>
            </a:r>
          </a:p>
          <a:p>
            <a:pPr lvl="1"/>
            <a:r>
              <a:rPr lang="pt-BR" sz="1600" dirty="0" smtClean="0"/>
              <a:t>Retorna </a:t>
            </a:r>
            <a:r>
              <a:rPr lang="pt-BR" sz="1600" dirty="0"/>
              <a:t>a resposta </a:t>
            </a:r>
            <a:r>
              <a:rPr lang="pt-BR" sz="1600" dirty="0" smtClean="0"/>
              <a:t>tratada</a:t>
            </a:r>
          </a:p>
          <a:p>
            <a:r>
              <a:rPr lang="pt-BR" sz="1900" dirty="0"/>
              <a:t>Um endpoint é um endereço onde um serviço pode ser acessado</a:t>
            </a:r>
            <a:endParaRPr lang="pt-BR" sz="1900" dirty="0" smtClean="0"/>
          </a:p>
          <a:p>
            <a:r>
              <a:rPr lang="pt-BR" sz="1800" dirty="0"/>
              <a:t>REST </a:t>
            </a:r>
            <a:r>
              <a:rPr lang="pt-BR" sz="1800" dirty="0" smtClean="0"/>
              <a:t>é </a:t>
            </a:r>
            <a:r>
              <a:rPr lang="pt-BR" sz="1800" dirty="0"/>
              <a:t>um estilo de arquitetura para comunicação entre </a:t>
            </a:r>
            <a:r>
              <a:rPr lang="pt-BR" sz="1800" dirty="0" smtClean="0"/>
              <a:t>sistemas</a:t>
            </a:r>
          </a:p>
          <a:p>
            <a:pPr lvl="1"/>
            <a:r>
              <a:rPr lang="pt-BR" sz="1600" dirty="0"/>
              <a:t>Baseado em requisições e respostas usando </a:t>
            </a:r>
            <a:r>
              <a:rPr lang="pt-BR" sz="1600" dirty="0" smtClean="0"/>
              <a:t>HTTP</a:t>
            </a:r>
          </a:p>
          <a:p>
            <a:pPr lvl="1"/>
            <a:r>
              <a:rPr lang="pt-BR" sz="1600" dirty="0" smtClean="0"/>
              <a:t>Ex: </a:t>
            </a:r>
            <a:r>
              <a:rPr lang="pt-BR" sz="1600" dirty="0"/>
              <a:t>A aplicação faz uma requisição para um </a:t>
            </a:r>
            <a:r>
              <a:rPr lang="pt-BR" sz="1600" dirty="0" smtClean="0"/>
              <a:t>endpoint</a:t>
            </a:r>
          </a:p>
          <a:p>
            <a:pPr lvl="2"/>
            <a:r>
              <a:rPr lang="pt-BR" sz="1200" dirty="0"/>
              <a:t>Envia dados (ex: prompt</a:t>
            </a:r>
            <a:r>
              <a:rPr lang="pt-BR" sz="1200" dirty="0" smtClean="0"/>
              <a:t>)</a:t>
            </a:r>
          </a:p>
          <a:p>
            <a:pPr lvl="2"/>
            <a:r>
              <a:rPr lang="pt-BR" sz="1200" dirty="0"/>
              <a:t>Recebe uma resposta (ex: texto gerado pelo modelo)</a:t>
            </a:r>
          </a:p>
        </p:txBody>
      </p:sp>
      <p:pic>
        <p:nvPicPr>
          <p:cNvPr id="2050" name="Picture 2" descr="REST API Basics - 4 Things you Need to Kno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845" y="1511559"/>
            <a:ext cx="4441167" cy="3112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0172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 smtClean="0"/>
              <a:t>Exemplo 1 – REST – Método GET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24" y="2381803"/>
            <a:ext cx="4198776" cy="239549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1498" y="1531002"/>
            <a:ext cx="4907902" cy="53346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009" y="2467453"/>
            <a:ext cx="4022825" cy="2224197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4623318" y="3624943"/>
            <a:ext cx="419878" cy="9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169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/>
              <a:t>Exemplo 1 – REST – Método </a:t>
            </a:r>
            <a:r>
              <a:rPr lang="pt-BR" sz="2400" dirty="0" smtClean="0"/>
              <a:t>GET - Explicando o código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 dirty="0"/>
              <a:t>  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4575" y="2111215"/>
            <a:ext cx="4198776" cy="239549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3306" y="1469571"/>
            <a:ext cx="2015412" cy="57849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Usaremos a biblioteca Flask para REST</a:t>
            </a:r>
            <a:endParaRPr lang="pt-BR" dirty="0"/>
          </a:p>
        </p:txBody>
      </p:sp>
      <p:cxnSp>
        <p:nvCxnSpPr>
          <p:cNvPr id="8" name="Straight Arrow Connector 7"/>
          <p:cNvCxnSpPr>
            <a:stCxn id="5" idx="3"/>
          </p:cNvCxnSpPr>
          <p:nvPr/>
        </p:nvCxnSpPr>
        <p:spPr>
          <a:xfrm>
            <a:off x="2108718" y="1758820"/>
            <a:ext cx="3144417" cy="475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61257" y="2129943"/>
            <a:ext cx="1847461" cy="76254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Define um endpoint /hello acessado via método GET</a:t>
            </a:r>
            <a:endParaRPr lang="pt-BR" dirty="0"/>
          </a:p>
        </p:txBody>
      </p:sp>
      <p:cxnSp>
        <p:nvCxnSpPr>
          <p:cNvPr id="10" name="Straight Arrow Connector 9"/>
          <p:cNvCxnSpPr>
            <a:stCxn id="11" idx="3"/>
          </p:cNvCxnSpPr>
          <p:nvPr/>
        </p:nvCxnSpPr>
        <p:spPr>
          <a:xfrm>
            <a:off x="2108718" y="2511217"/>
            <a:ext cx="3200400" cy="661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273629" y="2957925"/>
            <a:ext cx="2667388" cy="6764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Cria a função que será chamada quando o endpoint /hello for acessado</a:t>
            </a:r>
          </a:p>
        </p:txBody>
      </p:sp>
      <p:cxnSp>
        <p:nvCxnSpPr>
          <p:cNvPr id="15" name="Straight Arrow Connector 14"/>
          <p:cNvCxnSpPr>
            <a:stCxn id="14" idx="3"/>
          </p:cNvCxnSpPr>
          <p:nvPr/>
        </p:nvCxnSpPr>
        <p:spPr>
          <a:xfrm>
            <a:off x="3941017" y="3296160"/>
            <a:ext cx="1368101" cy="111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273629" y="3689152"/>
            <a:ext cx="2667388" cy="6764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Retorna uma mensagem em formato JSON</a:t>
            </a:r>
            <a:endParaRPr lang="pt-BR" dirty="0"/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3938684" y="3666069"/>
            <a:ext cx="1729663" cy="345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271296" y="4426352"/>
            <a:ext cx="2667388" cy="6764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Inicia o servidor Flask.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flipV="1">
            <a:off x="3929353" y="4361148"/>
            <a:ext cx="1771651" cy="416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3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/>
              <a:t>Exemplo 1 – REST – Método GET - </a:t>
            </a:r>
            <a:r>
              <a:rPr lang="pt-BR" sz="2400" dirty="0" smtClean="0"/>
              <a:t>Explicando o exemplo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 dirty="0"/>
              <a:t>  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066" y="1674351"/>
            <a:ext cx="4022825" cy="2224197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3401008" y="1940848"/>
            <a:ext cx="3373016" cy="5829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6896" y="1362288"/>
            <a:ext cx="3254051" cy="76254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Localhost é porque o servidor está na sua máquina</a:t>
            </a:r>
            <a:endParaRPr lang="pt-BR" dirty="0"/>
          </a:p>
        </p:txBody>
      </p:sp>
      <p:sp>
        <p:nvSpPr>
          <p:cNvPr id="9" name="Rounded Rectangle 8"/>
          <p:cNvSpPr/>
          <p:nvPr/>
        </p:nvSpPr>
        <p:spPr>
          <a:xfrm>
            <a:off x="628650" y="2185565"/>
            <a:ext cx="2821344" cy="6764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5000 é a porta padrão do Flash para responder requisições</a:t>
            </a:r>
            <a:endParaRPr lang="pt-BR" dirty="0"/>
          </a:p>
        </p:txBody>
      </p:sp>
      <p:sp>
        <p:nvSpPr>
          <p:cNvPr id="10" name="Rounded Rectangle 9"/>
          <p:cNvSpPr/>
          <p:nvPr/>
        </p:nvSpPr>
        <p:spPr>
          <a:xfrm>
            <a:off x="733620" y="3080329"/>
            <a:ext cx="2667388" cy="6764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Hello é o nome do serviço que definimos no código Python</a:t>
            </a:r>
            <a:endParaRPr lang="pt-BR" dirty="0"/>
          </a:p>
        </p:txBody>
      </p:sp>
      <p:sp>
        <p:nvSpPr>
          <p:cNvPr id="11" name="Rounded Rectangle 10"/>
          <p:cNvSpPr/>
          <p:nvPr/>
        </p:nvSpPr>
        <p:spPr>
          <a:xfrm>
            <a:off x="733620" y="4023011"/>
            <a:ext cx="2667388" cy="6764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Resposta que o servidor produziu</a:t>
            </a:r>
            <a:endParaRPr lang="pt-BR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3601616" y="1728004"/>
            <a:ext cx="2547257" cy="152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3401008" y="1967271"/>
            <a:ext cx="3639605" cy="1491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3401007" y="3321979"/>
            <a:ext cx="1686509" cy="1047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6945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 smtClean="0"/>
              <a:t>Exemplo 2 – REST – Método POST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4623318" y="3624943"/>
            <a:ext cx="419878" cy="9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72" y="1754890"/>
            <a:ext cx="4127453" cy="31180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757" y="1487994"/>
            <a:ext cx="3027712" cy="3399345"/>
          </a:xfrm>
          <a:prstGeom prst="rect">
            <a:avLst/>
          </a:prstGeom>
        </p:spPr>
      </p:pic>
      <p:pic>
        <p:nvPicPr>
          <p:cNvPr id="5122" name="Picture 2" descr="Ih Rapaz Fred GIF - Ih Rapaz Fred Irapaz - Discover &amp; Share GIF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5669" y="2434213"/>
            <a:ext cx="1640567" cy="922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4402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 smtClean="0"/>
              <a:t>Exemplo 2 – REST – Método POST - Postman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sp>
        <p:nvSpPr>
          <p:cNvPr id="8" name="Google Shape;211;p38"/>
          <p:cNvSpPr txBox="1">
            <a:spLocks/>
          </p:cNvSpPr>
          <p:nvPr/>
        </p:nvSpPr>
        <p:spPr>
          <a:xfrm>
            <a:off x="41988" y="1305673"/>
            <a:ext cx="3802224" cy="3837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1800" dirty="0" smtClean="0"/>
              <a:t>Requisições GET podem ser chamadas diretamente no navegador.</a:t>
            </a:r>
          </a:p>
          <a:p>
            <a:endParaRPr lang="pt-BR" sz="1800" dirty="0"/>
          </a:p>
          <a:p>
            <a:r>
              <a:rPr lang="pt-BR" sz="1800" dirty="0" smtClean="0"/>
              <a:t>Requisições POST demandam outros artifícios</a:t>
            </a:r>
          </a:p>
          <a:p>
            <a:pPr lvl="1"/>
            <a:r>
              <a:rPr lang="pt-BR" sz="1600" dirty="0"/>
              <a:t>Podemos instalar o plugin </a:t>
            </a:r>
            <a:r>
              <a:rPr lang="pt-BR" sz="1600" b="1" u="sng" dirty="0" smtClean="0"/>
              <a:t>Postman</a:t>
            </a:r>
            <a:endParaRPr lang="pt-BR" sz="1600" b="1" u="sng" dirty="0"/>
          </a:p>
          <a:p>
            <a:pPr lvl="1"/>
            <a:endParaRPr lang="pt-BR" sz="15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248" y="1754155"/>
            <a:ext cx="2367695" cy="265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309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02;p37"/>
          <p:cNvSpPr txBox="1">
            <a:spLocks/>
          </p:cNvSpPr>
          <p:nvPr/>
        </p:nvSpPr>
        <p:spPr>
          <a:xfrm>
            <a:off x="1394132" y="147589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400"/>
            </a:pPr>
            <a:r>
              <a:rPr lang="pt-BR" sz="2400" dirty="0"/>
              <a:t>Exemplo 2 – REST – Método POST - Postman</a:t>
            </a:r>
            <a:endParaRPr lang="pt-BR"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03;p37"/>
          <p:cNvSpPr txBox="1">
            <a:spLocks noGrp="1"/>
          </p:cNvSpPr>
          <p:nvPr>
            <p:ph type="body" idx="1"/>
          </p:nvPr>
        </p:nvSpPr>
        <p:spPr>
          <a:xfrm>
            <a:off x="154353" y="1307374"/>
            <a:ext cx="5322716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82600" indent="-342900">
              <a:buSzPts val="2100"/>
              <a:buAutoNum type="arabicParenR"/>
            </a:pPr>
            <a:r>
              <a:rPr lang="pt-BR" sz="1800" dirty="0" smtClean="0"/>
              <a:t>Clique em “New HTTP Request”</a:t>
            </a:r>
          </a:p>
          <a:p>
            <a:pPr marL="482600" indent="-342900">
              <a:buSzPts val="2100"/>
              <a:buAutoNum type="arabicParenR"/>
            </a:pPr>
            <a:r>
              <a:rPr lang="pt-BR" sz="1800" dirty="0" smtClean="0"/>
              <a:t>Selecione POST como método a ser usado</a:t>
            </a:r>
          </a:p>
          <a:p>
            <a:pPr marL="482600" indent="-342900">
              <a:buSzPts val="2100"/>
              <a:buAutoNum type="arabicParenR"/>
            </a:pPr>
            <a:r>
              <a:rPr lang="pt-BR" sz="1800" dirty="0" smtClean="0"/>
              <a:t>Digite a URL: </a:t>
            </a:r>
            <a:r>
              <a:rPr lang="pt-BR" sz="1800" dirty="0"/>
              <a:t>http://localhost:5000/texto/maiusculo</a:t>
            </a:r>
            <a:endParaRPr lang="pt-BR" sz="1800" dirty="0" smtClean="0"/>
          </a:p>
          <a:p>
            <a:pPr marL="482600" indent="-342900">
              <a:buSzPts val="2100"/>
              <a:buAutoNum type="arabicParenR"/>
            </a:pPr>
            <a:r>
              <a:rPr lang="pt-BR" sz="1800" dirty="0" smtClean="0"/>
              <a:t>Em body, selecione “raw” e o tipo JSON</a:t>
            </a:r>
          </a:p>
          <a:p>
            <a:pPr marL="482600" indent="-342900">
              <a:buSzPts val="2100"/>
              <a:buAutoNum type="arabicParenR"/>
            </a:pPr>
            <a:r>
              <a:rPr lang="pt-BR" sz="1800" dirty="0" smtClean="0"/>
              <a:t>Coloque o json no corpo da requisição</a:t>
            </a:r>
          </a:p>
          <a:p>
            <a:pPr marL="139700" indent="0">
              <a:buNone/>
            </a:pPr>
            <a:r>
              <a:rPr lang="pt-BR" sz="1200" dirty="0"/>
              <a:t>{</a:t>
            </a:r>
          </a:p>
          <a:p>
            <a:pPr marL="139700" indent="0">
              <a:buNone/>
            </a:pPr>
            <a:r>
              <a:rPr lang="pt-BR" sz="1200" dirty="0"/>
              <a:t>    "texto": "o rato roeu a roupa do rei de roma"</a:t>
            </a:r>
          </a:p>
          <a:p>
            <a:pPr marL="139700" indent="0">
              <a:buNone/>
            </a:pPr>
            <a:r>
              <a:rPr lang="pt-BR" sz="1200" dirty="0"/>
              <a:t>}</a:t>
            </a:r>
          </a:p>
          <a:p>
            <a:pPr marL="139700" indent="0">
              <a:buSzPts val="2100"/>
              <a:buNone/>
            </a:pPr>
            <a:r>
              <a:rPr lang="pt-BR" sz="1800" dirty="0" smtClean="0"/>
              <a:t>6) Clique em “Send” para enviar a requisição</a:t>
            </a:r>
          </a:p>
          <a:p>
            <a:pPr marL="139700" indent="0">
              <a:buSzPts val="2100"/>
              <a:buNone/>
            </a:pPr>
            <a:r>
              <a:rPr lang="pt-BR" sz="1800" dirty="0" smtClean="0"/>
              <a:t>7) Veja o retorno e o json com a resposta.</a:t>
            </a:r>
            <a:endParaRPr lang="pt-BR" sz="1800" dirty="0"/>
          </a:p>
          <a:p>
            <a:pPr marL="482600" indent="-342900">
              <a:buSzPts val="2100"/>
              <a:buAutoNum type="arabicParenR"/>
            </a:pPr>
            <a:endParaRPr lang="pt-BR" sz="1800" b="1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687" y="1702836"/>
            <a:ext cx="4449655" cy="303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236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760561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/>
              <a:t>Exemplo </a:t>
            </a:r>
            <a:r>
              <a:rPr lang="pt-BR" sz="2400" dirty="0" smtClean="0"/>
              <a:t>2 </a:t>
            </a:r>
            <a:r>
              <a:rPr lang="pt-BR" sz="2400" dirty="0"/>
              <a:t>– REST – Método </a:t>
            </a:r>
            <a:r>
              <a:rPr lang="pt-BR" sz="2400" dirty="0" smtClean="0"/>
              <a:t>POST - Explicando o código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 dirty="0"/>
              <a:t>  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93306" y="1469571"/>
            <a:ext cx="2015412" cy="57849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Só </a:t>
            </a:r>
            <a:r>
              <a:rPr lang="pt-BR" dirty="0"/>
              <a:t>responde se a requisição for POST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1257" y="2129943"/>
            <a:ext cx="1847461" cy="76254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Função que será executada quando o endpoint for chamado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73629" y="2957925"/>
            <a:ext cx="2667388" cy="6764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Pega o corpo da requisição (body)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73629" y="3689152"/>
            <a:ext cx="2667388" cy="6764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Extrai o valor da chave "texto" do JSON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71296" y="4426352"/>
            <a:ext cx="2667388" cy="6764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Retorna a resposta em formato JSON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663" y="2001416"/>
            <a:ext cx="3492333" cy="2638230"/>
          </a:xfrm>
          <a:prstGeom prst="rect">
            <a:avLst/>
          </a:prstGeom>
        </p:spPr>
      </p:pic>
      <p:cxnSp>
        <p:nvCxnSpPr>
          <p:cNvPr id="8" name="Straight Arrow Connector 7"/>
          <p:cNvCxnSpPr>
            <a:stCxn id="5" idx="3"/>
          </p:cNvCxnSpPr>
          <p:nvPr/>
        </p:nvCxnSpPr>
        <p:spPr>
          <a:xfrm>
            <a:off x="2108718" y="1758820"/>
            <a:ext cx="6335486" cy="940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1" idx="3"/>
          </p:cNvCxnSpPr>
          <p:nvPr/>
        </p:nvCxnSpPr>
        <p:spPr>
          <a:xfrm>
            <a:off x="2108718" y="2511217"/>
            <a:ext cx="3960845" cy="40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4" idx="3"/>
          </p:cNvCxnSpPr>
          <p:nvPr/>
        </p:nvCxnSpPr>
        <p:spPr>
          <a:xfrm flipV="1">
            <a:off x="3941017" y="3080772"/>
            <a:ext cx="2095889" cy="215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3938684" y="3209299"/>
            <a:ext cx="2098222" cy="802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V="1">
            <a:off x="3929353" y="3885769"/>
            <a:ext cx="2107553" cy="892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5539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823426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 smtClean="0"/>
              <a:t>Construindo o endpoint REST usando LLM – Parte 1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64452" y="1651518"/>
            <a:ext cx="2900654" cy="57849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Será chamado por http://localhost:5000/llm/generate</a:t>
            </a:r>
            <a:endParaRPr lang="pt-BR" dirty="0"/>
          </a:p>
        </p:txBody>
      </p:sp>
      <p:sp>
        <p:nvSpPr>
          <p:cNvPr id="11" name="Rounded Rectangle 10"/>
          <p:cNvSpPr/>
          <p:nvPr/>
        </p:nvSpPr>
        <p:spPr>
          <a:xfrm>
            <a:off x="193917" y="2419738"/>
            <a:ext cx="2651919" cy="57849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Espera-se um json </a:t>
            </a:r>
          </a:p>
          <a:p>
            <a:pPr algn="ctr"/>
            <a:r>
              <a:rPr lang="pt-BR" dirty="0" smtClean="0"/>
              <a:t>{“prompt”: “SEU_PROMPT”}</a:t>
            </a:r>
            <a:endParaRPr lang="pt-BR" dirty="0"/>
          </a:p>
        </p:txBody>
      </p:sp>
      <p:sp>
        <p:nvSpPr>
          <p:cNvPr id="14" name="Rounded Rectangle 13"/>
          <p:cNvSpPr/>
          <p:nvPr/>
        </p:nvSpPr>
        <p:spPr>
          <a:xfrm>
            <a:off x="193917" y="3266446"/>
            <a:ext cx="2651919" cy="112827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 System Context achei melhor deixar no servidor. O cliente envia o que quer. O servidor define como o modelo deve responder.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284" y="1440068"/>
            <a:ext cx="4711330" cy="3319117"/>
          </a:xfrm>
          <a:prstGeom prst="rect">
            <a:avLst/>
          </a:prstGeom>
        </p:spPr>
      </p:pic>
      <p:cxnSp>
        <p:nvCxnSpPr>
          <p:cNvPr id="8" name="Straight Arrow Connector 7"/>
          <p:cNvCxnSpPr>
            <a:stCxn id="7" idx="3"/>
          </p:cNvCxnSpPr>
          <p:nvPr/>
        </p:nvCxnSpPr>
        <p:spPr>
          <a:xfrm>
            <a:off x="3065106" y="1940767"/>
            <a:ext cx="2019311" cy="5715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2845836" y="2683775"/>
            <a:ext cx="1788007" cy="218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2878494" y="3741530"/>
            <a:ext cx="2311941" cy="79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452" y="1329368"/>
            <a:ext cx="4216506" cy="27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60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823426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 smtClean="0"/>
              <a:t>Construindo o endpoint REST usando LLM – Parte 2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/>
              <a:t>  </a:t>
            </a: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96551" y="2061974"/>
            <a:ext cx="2900654" cy="57849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Devolve a resposta para quem chamou</a:t>
            </a:r>
            <a:endParaRPr lang="pt-BR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207" y="1584653"/>
            <a:ext cx="4639350" cy="2681407"/>
          </a:xfrm>
          <a:prstGeom prst="rect">
            <a:avLst/>
          </a:prstGeom>
        </p:spPr>
      </p:pic>
      <p:cxnSp>
        <p:nvCxnSpPr>
          <p:cNvPr id="8" name="Straight Arrow Connector 7"/>
          <p:cNvCxnSpPr>
            <a:stCxn id="7" idx="3"/>
          </p:cNvCxnSpPr>
          <p:nvPr/>
        </p:nvCxnSpPr>
        <p:spPr>
          <a:xfrm>
            <a:off x="3297205" y="2351223"/>
            <a:ext cx="1619352" cy="1125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7297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823426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 smtClean="0"/>
              <a:t>Resposta do Servidor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 dirty="0"/>
              <a:t>  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0672"/>
            <a:ext cx="9144000" cy="320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385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823426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 smtClean="0"/>
              <a:t>E quem vai consumir esse serviço?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 dirty="0"/>
              <a:t>  </a:t>
            </a:r>
            <a:endParaRPr dirty="0"/>
          </a:p>
        </p:txBody>
      </p:sp>
      <p:sp>
        <p:nvSpPr>
          <p:cNvPr id="5" name="Google Shape;211;p38"/>
          <p:cNvSpPr txBox="1">
            <a:spLocks/>
          </p:cNvSpPr>
          <p:nvPr/>
        </p:nvSpPr>
        <p:spPr>
          <a:xfrm>
            <a:off x="41987" y="1305673"/>
            <a:ext cx="8165525" cy="3837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1800" dirty="0" smtClean="0"/>
              <a:t>Qualquer sistema que consiga enviar uma mensagem http do tipo post</a:t>
            </a:r>
          </a:p>
          <a:p>
            <a:pPr lvl="1"/>
            <a:r>
              <a:rPr lang="pt-BR" sz="1200" dirty="0" smtClean="0"/>
              <a:t>Ex: HTML + Javascript</a:t>
            </a:r>
            <a:endParaRPr lang="pt-BR" sz="1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7802" y="1780566"/>
            <a:ext cx="4075068" cy="325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028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/>
          </p:nvPr>
        </p:nvSpPr>
        <p:spPr>
          <a:xfrm>
            <a:off x="909735" y="273844"/>
            <a:ext cx="8234265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buSzPts val="2400"/>
            </a:pPr>
            <a:r>
              <a:rPr lang="pt-BR" sz="2400" dirty="0" smtClean="0"/>
              <a:t>Cliente.html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7886700" cy="3636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pt-BR" dirty="0"/>
              <a:t>  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749" y="1713471"/>
            <a:ext cx="5284264" cy="336133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2864" y="1518635"/>
            <a:ext cx="2900654" cy="57849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Recebe o código digitado no formulário</a:t>
            </a:r>
            <a:endParaRPr lang="pt-BR" dirty="0"/>
          </a:p>
        </p:txBody>
      </p:sp>
      <p:cxnSp>
        <p:nvCxnSpPr>
          <p:cNvPr id="8" name="Straight Arrow Connector 7"/>
          <p:cNvCxnSpPr>
            <a:stCxn id="7" idx="3"/>
          </p:cNvCxnSpPr>
          <p:nvPr/>
        </p:nvCxnSpPr>
        <p:spPr>
          <a:xfrm>
            <a:off x="3173518" y="1807884"/>
            <a:ext cx="2272004" cy="321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2864" y="2333643"/>
            <a:ext cx="2900654" cy="57849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Chama o serviço enviando o código como prompt</a:t>
            </a:r>
            <a:endParaRPr lang="pt-BR" dirty="0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3173518" y="2542588"/>
            <a:ext cx="2639769" cy="105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2864" y="3294699"/>
            <a:ext cx="2900654" cy="57849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Recebe a resposta do servidor</a:t>
            </a:r>
            <a:endParaRPr lang="pt-BR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3173517" y="3583337"/>
            <a:ext cx="1447074" cy="634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2864" y="4242480"/>
            <a:ext cx="2900654" cy="57849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Coloca a resposta no campo resultado (é um textarea do html)</a:t>
            </a:r>
            <a:endParaRPr lang="pt-BR" dirty="0"/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3173517" y="4531729"/>
            <a:ext cx="2701613" cy="12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053789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5393</TotalTime>
  <Words>565</Words>
  <Application>Microsoft Office PowerPoint</Application>
  <PresentationFormat>On-screen Show (16:9)</PresentationFormat>
  <Paragraphs>104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Simple Light</vt:lpstr>
      <vt:lpstr>Tema do Office</vt:lpstr>
      <vt:lpstr>Instituto Federal de Educação, Ciência e Tecnologia Triângulo Mineiro – Campus Uberlândia Centro Curso Técnico - Integrado</vt:lpstr>
      <vt:lpstr>Introdução</vt:lpstr>
      <vt:lpstr>Endpoints REST</vt:lpstr>
      <vt:lpstr>Exemplo 1 – REST – Método GET</vt:lpstr>
      <vt:lpstr>Exemplo 1 – REST – Método GET - Explicando o código</vt:lpstr>
      <vt:lpstr>Exemplo 1 – REST – Método GET - Explicando o exemplo</vt:lpstr>
      <vt:lpstr>Exemplo 2 – REST – Método POST</vt:lpstr>
      <vt:lpstr>Exemplo 2 – REST – Método POST - Postman</vt:lpstr>
      <vt:lpstr>PowerPoint Presentation</vt:lpstr>
      <vt:lpstr>Exemplo 2 – REST – Método POST - Explicando o código</vt:lpstr>
      <vt:lpstr>Construindo o endpoint REST usando LLM – Parte 1</vt:lpstr>
      <vt:lpstr>Construindo o endpoint REST usando LLM – Parte 2</vt:lpstr>
      <vt:lpstr>Resposta do Servidor</vt:lpstr>
      <vt:lpstr>E quem vai consumir esse serviço?</vt:lpstr>
      <vt:lpstr>Cliente.html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Instituto Federal de Educação, Ciência e Tecnologia Triângulo Mineiro – Campus Uberlândia Centro Curso Superior de Tecnologia em Sistemas para Internet</dc:title>
  <dc:creator>Carlos Eduardo</dc:creator>
  <cp:lastModifiedBy>Microsoft account</cp:lastModifiedBy>
  <cp:revision>226</cp:revision>
  <dcterms:modified xsi:type="dcterms:W3CDTF">2026-04-26T19:47:09Z</dcterms:modified>
</cp:coreProperties>
</file>